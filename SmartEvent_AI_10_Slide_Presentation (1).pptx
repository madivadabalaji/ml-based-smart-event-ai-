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107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609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SmartEvent AI as an event-management project with a machine-learning direction. Explain that the website URL is provided for review, but the dashboard illustration on this slide is a concept mockup rather than a verified screenshot. Add presenter, team, department, institution, and guide details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operational gap: a booking is not the same as attendance, and demand may change over time. Present the right-hand side as the proposed SmartEvent AI approach, not proof that every capability is deployed. Emphasize that predictions are decision support, not guarantees.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attendee and organizer use cases. Explain that the technology stack is the architecture specified in the project brief; verify each item against the actual repository before claiming it is implemented. If showing the website live, use a real browser screenshot in place of this summary slide or add it to the deck.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primary web path from users through the frontend and API to the database. Then describe the separate ML lane, where data is preprocessed, passed to models, and surfaced through an inference service. The diagram reflects the requested architecture; it is not confirmation that all services are connected or deployed. Socket.IO is shown as the proposed live-update channel.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this as the attendance prediction design. A valid supervised model requires historical events with actual attendance as the target, and should be evaluated on held-out data using MAE and RMSE, with R-squared as an optional metric. No accuracy or performance values are reported because no verified training logs or evaluation report were provided.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content-based filtering as a proposed approach: represent user interests and event attributes as features, compute relevance, and rank upcoming events. Explain the cold-start issue for users without interaction history. The prompt does not provide evidence proving that a trained or rule-based recommender is integrated, so implementation status must be verified.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Distinguish the objectives carefully. No-show prediction estimates whether a registrant may fail to attend. Demand forecasting estimates future registration volume. Attendance prediction estimates expected attendees, which is not identical to either. Both modules are proposed until their model code, data, and evaluation are verified.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explain the data required for an event platform. Users, events, registrations, tickets, and check-ins are conceptual entities in this example diagram; do not claim they all exist in the current database until verified. Real-time updates can be implemented with Socket.IO, but the repository should confirm actual event handlers and persistence.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Demonstrate only workflows that work in the current deployed site. For ML, show how the prediction is generated and identify its data source. Model evaluation should use held-out data and suitable metrics: MAE/RMSE for regression, precision/recall/F1 for classification, and ranking metrics for recommendations. No verified results were provided, so report evaluation as pending rather than inventing scores.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stating that the project direction is to combine event operations with data-informed planning. The next major step is to verify which ML modules are actually implemented, train or connect them using suitable data, evaluate them on unseen examples, and compare forecasts with real check-ins.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58368" y="685800"/>
            <a:ext cx="1481328" cy="292608"/>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94944" y="699516"/>
            <a:ext cx="1408176"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ENGINEERING PROJECT</a:t>
            </a:r>
          </a:p>
        </p:txBody>
      </p:sp>
      <p:sp>
        <p:nvSpPr>
          <p:cNvPr id="5" name="TextBox 4"/>
          <p:cNvSpPr txBox="1"/>
          <p:nvPr/>
        </p:nvSpPr>
        <p:spPr>
          <a:xfrm>
            <a:off x="658368" y="1234440"/>
            <a:ext cx="5760720" cy="1097280"/>
          </a:xfrm>
          <a:prstGeom prst="rect">
            <a:avLst/>
          </a:prstGeom>
          <a:noFill/>
        </p:spPr>
        <p:txBody>
          <a:bodyPr wrap="square" lIns="36576" tIns="36576" rIns="36576" bIns="36576" anchor="t">
            <a:spAutoFit/>
          </a:bodyPr>
          <a:lstStyle/>
          <a:p>
            <a:pPr algn="l">
              <a:spcAft>
                <a:spcPts val="500"/>
              </a:spcAft>
              <a:defRPr sz="3800" b="1">
                <a:solidFill>
                  <a:srgbClr val="F8FAFF"/>
                </a:solidFill>
                <a:latin typeface="Aptos"/>
              </a:defRPr>
            </a:pPr>
            <a:r>
              <a:t>SmartEvent AI</a:t>
            </a:r>
          </a:p>
        </p:txBody>
      </p:sp>
      <p:sp>
        <p:nvSpPr>
          <p:cNvPr id="6" name="TextBox 5"/>
          <p:cNvSpPr txBox="1"/>
          <p:nvPr/>
        </p:nvSpPr>
        <p:spPr>
          <a:xfrm>
            <a:off x="685800" y="2359152"/>
            <a:ext cx="5303520" cy="713232"/>
          </a:xfrm>
          <a:prstGeom prst="rect">
            <a:avLst/>
          </a:prstGeom>
          <a:noFill/>
        </p:spPr>
        <p:txBody>
          <a:bodyPr wrap="square" lIns="36576" tIns="36576" rIns="36576" bIns="36576" anchor="t">
            <a:spAutoFit/>
          </a:bodyPr>
          <a:lstStyle/>
          <a:p>
            <a:pPr algn="l">
              <a:spcAft>
                <a:spcPts val="500"/>
              </a:spcAft>
              <a:defRPr sz="2100" b="1">
                <a:solidFill>
                  <a:srgbClr val="36D3EB"/>
                </a:solidFill>
                <a:latin typeface="Aptos"/>
              </a:defRPr>
            </a:pPr>
            <a:r>
              <a:t>Real-Time Event Management</a:t>
            </a:r>
          </a:p>
          <a:p>
            <a:pPr algn="l">
              <a:spcAft>
                <a:spcPts val="500"/>
              </a:spcAft>
              <a:defRPr sz="2100" b="1">
                <a:solidFill>
                  <a:srgbClr val="36D3EB"/>
                </a:solidFill>
                <a:latin typeface="Aptos"/>
              </a:defRPr>
            </a:pPr>
            <a:r>
              <a:t>System with Machine Learning</a:t>
            </a:r>
          </a:p>
        </p:txBody>
      </p:sp>
      <p:sp>
        <p:nvSpPr>
          <p:cNvPr id="7" name="TextBox 6"/>
          <p:cNvSpPr txBox="1"/>
          <p:nvPr/>
        </p:nvSpPr>
        <p:spPr>
          <a:xfrm>
            <a:off x="685800" y="3401568"/>
            <a:ext cx="5120640" cy="731520"/>
          </a:xfrm>
          <a:prstGeom prst="rect">
            <a:avLst/>
          </a:prstGeom>
          <a:noFill/>
        </p:spPr>
        <p:txBody>
          <a:bodyPr wrap="square" lIns="36576" tIns="36576" rIns="36576" bIns="36576" anchor="t">
            <a:spAutoFit/>
          </a:bodyPr>
          <a:lstStyle/>
          <a:p>
            <a:pPr algn="l">
              <a:spcAft>
                <a:spcPts val="500"/>
              </a:spcAft>
              <a:defRPr sz="1500" b="0">
                <a:solidFill>
                  <a:srgbClr val="B0BEDC"/>
                </a:solidFill>
                <a:latin typeface="Aptos"/>
              </a:defRPr>
            </a:pPr>
            <a:r>
              <a:t>A full-stack event platform concept combining event operations with ML-assisted planning and discovery.</a:t>
            </a:r>
          </a:p>
        </p:txBody>
      </p:sp>
      <p:sp>
        <p:nvSpPr>
          <p:cNvPr id="10" name="TextBox 9"/>
          <p:cNvSpPr txBox="1"/>
          <p:nvPr/>
        </p:nvSpPr>
        <p:spPr>
          <a:xfrm>
            <a:off x="531628" y="4599434"/>
            <a:ext cx="5549132" cy="1058751"/>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rPr lang="en-US" sz="1600" dirty="0"/>
              <a:t>Balaji-2510080046</a:t>
            </a:r>
            <a:br>
              <a:rPr lang="en-US" sz="1600" dirty="0"/>
            </a:br>
            <a:r>
              <a:rPr lang="en-US" sz="1600" dirty="0"/>
              <a:t>Ruthvik-2510080056</a:t>
            </a:r>
            <a:br>
              <a:rPr lang="en-US" sz="1600" dirty="0"/>
            </a:br>
            <a:r>
              <a:rPr lang="en-US" sz="1600" dirty="0"/>
              <a:t>Krithik reddy-2510080054</a:t>
            </a:r>
            <a:br>
              <a:rPr lang="en-US" sz="1600" dirty="0"/>
            </a:br>
            <a:r>
              <a:rPr lang="en-US" sz="1600" dirty="0"/>
              <a:t>Sharath-2510080058</a:t>
            </a:r>
            <a:endParaRPr sz="1600" dirty="0"/>
          </a:p>
        </p:txBody>
      </p:sp>
      <p:sp>
        <p:nvSpPr>
          <p:cNvPr id="11" name="Rounded Rectangle 10"/>
          <p:cNvSpPr/>
          <p:nvPr/>
        </p:nvSpPr>
        <p:spPr>
          <a:xfrm>
            <a:off x="6446520" y="713232"/>
            <a:ext cx="5074920" cy="5440680"/>
          </a:xfrm>
          <a:prstGeom prst="roundRect">
            <a:avLst>
              <a:gd name="adj" fmla="val 12000"/>
            </a:avLst>
          </a:prstGeom>
          <a:solidFill>
            <a:srgbClr val="1C284C"/>
          </a:solidFill>
          <a:ln w="15240">
            <a:solidFill>
              <a:srgbClr val="3244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932688"/>
            <a:ext cx="3291840" cy="320040"/>
          </a:xfrm>
          <a:prstGeom prst="rect">
            <a:avLst/>
          </a:prstGeom>
          <a:noFill/>
        </p:spPr>
        <p:txBody>
          <a:bodyPr wrap="square" lIns="36576" tIns="36576" rIns="36576" bIns="36576" anchor="t">
            <a:spAutoFit/>
          </a:bodyPr>
          <a:lstStyle/>
          <a:p>
            <a:pPr algn="l">
              <a:spcAft>
                <a:spcPts val="500"/>
              </a:spcAft>
              <a:defRPr sz="1600" b="1">
                <a:solidFill>
                  <a:srgbClr val="F8FAFF"/>
                </a:solidFill>
                <a:latin typeface="Aptos"/>
              </a:defRPr>
            </a:pPr>
            <a:r>
              <a:t>Event Intelligence</a:t>
            </a:r>
          </a:p>
        </p:txBody>
      </p:sp>
      <p:sp>
        <p:nvSpPr>
          <p:cNvPr id="13" name="Rounded Rectangle 12"/>
          <p:cNvSpPr/>
          <p:nvPr/>
        </p:nvSpPr>
        <p:spPr>
          <a:xfrm>
            <a:off x="9921240" y="950976"/>
            <a:ext cx="1234440" cy="292608"/>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57815" y="964692"/>
            <a:ext cx="1161288"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CONCEPT UI</a:t>
            </a:r>
          </a:p>
        </p:txBody>
      </p:sp>
      <p:sp>
        <p:nvSpPr>
          <p:cNvPr id="15" name="Rounded Rectangle 14"/>
          <p:cNvSpPr/>
          <p:nvPr/>
        </p:nvSpPr>
        <p:spPr>
          <a:xfrm>
            <a:off x="6720840" y="1481328"/>
            <a:ext cx="1353312" cy="86868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12279" y="1609344"/>
            <a:ext cx="1143000" cy="201168"/>
          </a:xfrm>
          <a:prstGeom prst="rect">
            <a:avLst/>
          </a:prstGeom>
          <a:noFill/>
        </p:spPr>
        <p:txBody>
          <a:bodyPr wrap="square" lIns="36576" tIns="36576" rIns="36576" bIns="36576" anchor="t">
            <a:spAutoFit/>
          </a:bodyPr>
          <a:lstStyle/>
          <a:p>
            <a:pPr algn="l">
              <a:spcAft>
                <a:spcPts val="500"/>
              </a:spcAft>
              <a:defRPr sz="900" b="1">
                <a:solidFill>
                  <a:srgbClr val="B0BEDC"/>
                </a:solidFill>
                <a:latin typeface="Aptos"/>
              </a:defRPr>
            </a:pPr>
            <a:r>
              <a:t>Registrations</a:t>
            </a:r>
          </a:p>
        </p:txBody>
      </p:sp>
      <p:sp>
        <p:nvSpPr>
          <p:cNvPr id="17" name="TextBox 16"/>
          <p:cNvSpPr txBox="1"/>
          <p:nvPr/>
        </p:nvSpPr>
        <p:spPr>
          <a:xfrm>
            <a:off x="6812279" y="1901952"/>
            <a:ext cx="1143000" cy="274320"/>
          </a:xfrm>
          <a:prstGeom prst="rect">
            <a:avLst/>
          </a:prstGeom>
          <a:noFill/>
        </p:spPr>
        <p:txBody>
          <a:bodyPr wrap="square" lIns="36576" tIns="36576" rIns="36576" bIns="36576" anchor="t">
            <a:spAutoFit/>
          </a:bodyPr>
          <a:lstStyle/>
          <a:p>
            <a:pPr algn="l">
              <a:spcAft>
                <a:spcPts val="500"/>
              </a:spcAft>
              <a:defRPr sz="1500" b="1">
                <a:solidFill>
                  <a:srgbClr val="4285F4"/>
                </a:solidFill>
                <a:latin typeface="Aptos"/>
              </a:defRPr>
            </a:pPr>
            <a:r>
              <a:t>—</a:t>
            </a:r>
          </a:p>
        </p:txBody>
      </p:sp>
      <p:sp>
        <p:nvSpPr>
          <p:cNvPr id="18" name="Rounded Rectangle 17"/>
          <p:cNvSpPr/>
          <p:nvPr/>
        </p:nvSpPr>
        <p:spPr>
          <a:xfrm>
            <a:off x="8229600" y="1481328"/>
            <a:ext cx="1353312" cy="86868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609344"/>
            <a:ext cx="1143000" cy="201168"/>
          </a:xfrm>
          <a:prstGeom prst="rect">
            <a:avLst/>
          </a:prstGeom>
          <a:noFill/>
        </p:spPr>
        <p:txBody>
          <a:bodyPr wrap="square" lIns="36576" tIns="36576" rIns="36576" bIns="36576" anchor="t">
            <a:spAutoFit/>
          </a:bodyPr>
          <a:lstStyle/>
          <a:p>
            <a:pPr algn="l">
              <a:spcAft>
                <a:spcPts val="500"/>
              </a:spcAft>
              <a:defRPr sz="900" b="1">
                <a:solidFill>
                  <a:srgbClr val="B0BEDC"/>
                </a:solidFill>
                <a:latin typeface="Aptos"/>
              </a:defRPr>
            </a:pPr>
            <a:r>
              <a:t>Check-ins</a:t>
            </a:r>
          </a:p>
        </p:txBody>
      </p:sp>
      <p:sp>
        <p:nvSpPr>
          <p:cNvPr id="20" name="TextBox 19"/>
          <p:cNvSpPr txBox="1"/>
          <p:nvPr/>
        </p:nvSpPr>
        <p:spPr>
          <a:xfrm>
            <a:off x="8321040" y="1901952"/>
            <a:ext cx="1143000" cy="274320"/>
          </a:xfrm>
          <a:prstGeom prst="rect">
            <a:avLst/>
          </a:prstGeom>
          <a:noFill/>
        </p:spPr>
        <p:txBody>
          <a:bodyPr wrap="square" lIns="36576" tIns="36576" rIns="36576" bIns="36576" anchor="t">
            <a:spAutoFit/>
          </a:bodyPr>
          <a:lstStyle/>
          <a:p>
            <a:pPr algn="l">
              <a:spcAft>
                <a:spcPts val="500"/>
              </a:spcAft>
              <a:defRPr sz="1500" b="1">
                <a:solidFill>
                  <a:srgbClr val="36D3EB"/>
                </a:solidFill>
                <a:latin typeface="Aptos"/>
              </a:defRPr>
            </a:pPr>
            <a:r>
              <a:t>—</a:t>
            </a:r>
          </a:p>
        </p:txBody>
      </p:sp>
      <p:sp>
        <p:nvSpPr>
          <p:cNvPr id="21" name="Rounded Rectangle 20"/>
          <p:cNvSpPr/>
          <p:nvPr/>
        </p:nvSpPr>
        <p:spPr>
          <a:xfrm>
            <a:off x="9738359" y="1481328"/>
            <a:ext cx="1353312" cy="86868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29799" y="1609344"/>
            <a:ext cx="1143000" cy="201168"/>
          </a:xfrm>
          <a:prstGeom prst="rect">
            <a:avLst/>
          </a:prstGeom>
          <a:noFill/>
        </p:spPr>
        <p:txBody>
          <a:bodyPr wrap="square" lIns="36576" tIns="36576" rIns="36576" bIns="36576" anchor="t">
            <a:spAutoFit/>
          </a:bodyPr>
          <a:lstStyle/>
          <a:p>
            <a:pPr algn="l">
              <a:spcAft>
                <a:spcPts val="500"/>
              </a:spcAft>
              <a:defRPr sz="900" b="1">
                <a:solidFill>
                  <a:srgbClr val="B0BEDC"/>
                </a:solidFill>
                <a:latin typeface="Aptos"/>
              </a:defRPr>
            </a:pPr>
            <a:r>
              <a:t>Forecast</a:t>
            </a:r>
          </a:p>
        </p:txBody>
      </p:sp>
      <p:sp>
        <p:nvSpPr>
          <p:cNvPr id="23" name="TextBox 22"/>
          <p:cNvSpPr txBox="1"/>
          <p:nvPr/>
        </p:nvSpPr>
        <p:spPr>
          <a:xfrm>
            <a:off x="9829799" y="1901952"/>
            <a:ext cx="1143000" cy="274320"/>
          </a:xfrm>
          <a:prstGeom prst="rect">
            <a:avLst/>
          </a:prstGeom>
          <a:noFill/>
        </p:spPr>
        <p:txBody>
          <a:bodyPr wrap="square" lIns="36576" tIns="36576" rIns="36576" bIns="36576" anchor="t">
            <a:spAutoFit/>
          </a:bodyPr>
          <a:lstStyle/>
          <a:p>
            <a:pPr algn="l">
              <a:spcAft>
                <a:spcPts val="500"/>
              </a:spcAft>
              <a:defRPr sz="1500" b="1">
                <a:solidFill>
                  <a:srgbClr val="915EFF"/>
                </a:solidFill>
                <a:latin typeface="Aptos"/>
              </a:defRPr>
            </a:pPr>
            <a:r>
              <a:t>Pending</a:t>
            </a:r>
          </a:p>
        </p:txBody>
      </p:sp>
      <p:sp>
        <p:nvSpPr>
          <p:cNvPr id="24" name="Rounded Rectangle 23"/>
          <p:cNvSpPr/>
          <p:nvPr/>
        </p:nvSpPr>
        <p:spPr>
          <a:xfrm>
            <a:off x="6720840" y="2578608"/>
            <a:ext cx="4480560" cy="1828800"/>
          </a:xfrm>
          <a:prstGeom prst="roundRect">
            <a:avLst>
              <a:gd name="adj" fmla="val 12000"/>
            </a:avLst>
          </a:prstGeom>
          <a:solidFill>
            <a:srgbClr val="14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31152" y="2761488"/>
            <a:ext cx="3108960" cy="228600"/>
          </a:xfrm>
          <a:prstGeom prst="rect">
            <a:avLst/>
          </a:prstGeom>
          <a:noFill/>
        </p:spPr>
        <p:txBody>
          <a:bodyPr wrap="square" lIns="36576" tIns="36576" rIns="36576" bIns="36576" anchor="t">
            <a:spAutoFit/>
          </a:bodyPr>
          <a:lstStyle/>
          <a:p>
            <a:pPr algn="l">
              <a:spcAft>
                <a:spcPts val="500"/>
              </a:spcAft>
              <a:defRPr sz="1000" b="1">
                <a:solidFill>
                  <a:srgbClr val="B0BEDC"/>
                </a:solidFill>
                <a:latin typeface="Aptos"/>
              </a:defRPr>
            </a:pPr>
            <a:r>
              <a:t>Registration trend • illustrative</a:t>
            </a:r>
          </a:p>
        </p:txBody>
      </p:sp>
      <p:cxnSp>
        <p:nvCxnSpPr>
          <p:cNvPr id="26" name="Connector 25"/>
          <p:cNvCxnSpPr/>
          <p:nvPr/>
        </p:nvCxnSpPr>
        <p:spPr>
          <a:xfrm flipV="1">
            <a:off x="6995160" y="3703320"/>
            <a:ext cx="548640" cy="274319"/>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543800" y="3703320"/>
            <a:ext cx="548640" cy="118871"/>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092440" y="3337560"/>
            <a:ext cx="548640" cy="484631"/>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41080" y="3337560"/>
            <a:ext cx="548640" cy="118872"/>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189720" y="3063240"/>
            <a:ext cx="548640" cy="393192"/>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38360" y="3063240"/>
            <a:ext cx="548640" cy="155448"/>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287000" y="2880360"/>
            <a:ext cx="548640" cy="338328"/>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6958584" y="3941063"/>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507224" y="3666744"/>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055864" y="3785615"/>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604504" y="3300984"/>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153144" y="3419856"/>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701784" y="3026664"/>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250424" y="3182112"/>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799064" y="2843784"/>
            <a:ext cx="73152" cy="73152"/>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720840" y="4645152"/>
            <a:ext cx="4480560" cy="109728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31152" y="4809744"/>
            <a:ext cx="4023360" cy="228600"/>
          </a:xfrm>
          <a:prstGeom prst="rect">
            <a:avLst/>
          </a:prstGeom>
          <a:noFill/>
        </p:spPr>
        <p:txBody>
          <a:bodyPr wrap="square" lIns="36576" tIns="36576" rIns="36576" bIns="36576" anchor="t">
            <a:spAutoFit/>
          </a:bodyPr>
          <a:lstStyle/>
          <a:p>
            <a:pPr algn="l">
              <a:spcAft>
                <a:spcPts val="500"/>
              </a:spcAft>
              <a:defRPr sz="1000" b="1">
                <a:solidFill>
                  <a:srgbClr val="B0BEDC"/>
                </a:solidFill>
                <a:latin typeface="Aptos"/>
              </a:defRPr>
            </a:pPr>
            <a:r>
              <a:t>ML modules</a:t>
            </a:r>
          </a:p>
        </p:txBody>
      </p:sp>
      <p:sp>
        <p:nvSpPr>
          <p:cNvPr id="43" name="Rounded Rectangle 42"/>
          <p:cNvSpPr/>
          <p:nvPr/>
        </p:nvSpPr>
        <p:spPr>
          <a:xfrm>
            <a:off x="6931152" y="5193792"/>
            <a:ext cx="932688" cy="292608"/>
          </a:xfrm>
          <a:prstGeom prst="roundRect">
            <a:avLst>
              <a:gd name="adj" fmla="val 12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67728" y="5207507"/>
            <a:ext cx="859536"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Attendance</a:t>
            </a:r>
          </a:p>
        </p:txBody>
      </p:sp>
      <p:sp>
        <p:nvSpPr>
          <p:cNvPr id="45" name="Rounded Rectangle 44"/>
          <p:cNvSpPr/>
          <p:nvPr/>
        </p:nvSpPr>
        <p:spPr>
          <a:xfrm>
            <a:off x="7955279" y="5193792"/>
            <a:ext cx="932688" cy="292608"/>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91855" y="5207507"/>
            <a:ext cx="859536"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Recommendations</a:t>
            </a:r>
          </a:p>
        </p:txBody>
      </p:sp>
      <p:sp>
        <p:nvSpPr>
          <p:cNvPr id="47" name="Rounded Rectangle 46"/>
          <p:cNvSpPr/>
          <p:nvPr/>
        </p:nvSpPr>
        <p:spPr>
          <a:xfrm>
            <a:off x="8979408" y="5193792"/>
            <a:ext cx="932688" cy="292608"/>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015984" y="5207507"/>
            <a:ext cx="859536"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No-show</a:t>
            </a:r>
          </a:p>
        </p:txBody>
      </p:sp>
      <p:sp>
        <p:nvSpPr>
          <p:cNvPr id="49" name="Rounded Rectangle 48"/>
          <p:cNvSpPr/>
          <p:nvPr/>
        </p:nvSpPr>
        <p:spPr>
          <a:xfrm>
            <a:off x="10003536" y="5193792"/>
            <a:ext cx="932688" cy="292608"/>
          </a:xfrm>
          <a:prstGeom prst="roundRect">
            <a:avLst>
              <a:gd name="adj" fmla="val 12000"/>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040112" y="5207507"/>
            <a:ext cx="859536"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Demand</a:t>
            </a:r>
          </a:p>
        </p:txBody>
      </p:sp>
      <p:sp>
        <p:nvSpPr>
          <p:cNvPr id="51" name="TextBox 50"/>
          <p:cNvSpPr txBox="1"/>
          <p:nvPr/>
        </p:nvSpPr>
        <p:spPr>
          <a:xfrm>
            <a:off x="6565392" y="6272784"/>
            <a:ext cx="4846320" cy="182880"/>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Illustrative dashboard artwork — not a captured website screenshot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02</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Problem Statement &amp; Motivation</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Why event operations can benefit from better data</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2/10</a:t>
            </a:r>
          </a:p>
        </p:txBody>
      </p:sp>
      <p:sp>
        <p:nvSpPr>
          <p:cNvPr id="8" name="Rounded Rectangle 7"/>
          <p:cNvSpPr/>
          <p:nvPr/>
        </p:nvSpPr>
        <p:spPr>
          <a:xfrm>
            <a:off x="594360" y="1325880"/>
            <a:ext cx="5257800" cy="438912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325880"/>
            <a:ext cx="64008" cy="4389120"/>
          </a:xfrm>
          <a:prstGeom prst="roundRect">
            <a:avLst>
              <a:gd name="adj" fmla="val 12000"/>
            </a:avLst>
          </a:prstGeom>
          <a:solidFill>
            <a:srgbClr val="FF6B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472184"/>
            <a:ext cx="487375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Traditional workflow</a:t>
            </a:r>
          </a:p>
        </p:txBody>
      </p:sp>
      <p:sp>
        <p:nvSpPr>
          <p:cNvPr id="11" name="TextBox 10"/>
          <p:cNvSpPr txBox="1"/>
          <p:nvPr/>
        </p:nvSpPr>
        <p:spPr>
          <a:xfrm>
            <a:off x="795528" y="1847088"/>
            <a:ext cx="4873752" cy="3767328"/>
          </a:xfrm>
          <a:prstGeom prst="rect">
            <a:avLst/>
          </a:prstGeom>
          <a:noFill/>
        </p:spPr>
        <p:txBody>
          <a:bodyPr wrap="square" lIns="36576" tIns="36576" rIns="36576" bIns="36576" anchor="t">
            <a:spAutoFit/>
          </a:bodyPr>
          <a:lstStyle/>
          <a:p>
            <a:pPr algn="l">
              <a:spcAft>
                <a:spcPts val="500"/>
              </a:spcAft>
              <a:defRPr sz="1500" b="0">
                <a:solidFill>
                  <a:srgbClr val="B0BEDC"/>
                </a:solidFill>
                <a:latin typeface="Aptos"/>
              </a:defRPr>
            </a:pPr>
            <a:r>
              <a:t>• Attendance is hard to estimate from registrations alone</a:t>
            </a:r>
          </a:p>
          <a:p>
            <a:pPr algn="l">
              <a:spcAft>
                <a:spcPts val="500"/>
              </a:spcAft>
              <a:defRPr sz="1500" b="0">
                <a:solidFill>
                  <a:srgbClr val="B0BEDC"/>
                </a:solidFill>
                <a:latin typeface="Aptos"/>
              </a:defRPr>
            </a:pPr>
            <a:r>
              <a:t>• Event discovery can be overwhelming</a:t>
            </a:r>
          </a:p>
          <a:p>
            <a:pPr algn="l">
              <a:spcAft>
                <a:spcPts val="500"/>
              </a:spcAft>
              <a:defRPr sz="1500" b="0">
                <a:solidFill>
                  <a:srgbClr val="B0BEDC"/>
                </a:solidFill>
                <a:latin typeface="Aptos"/>
              </a:defRPr>
            </a:pPr>
            <a:r>
              <a:t>• Demand shifts as the date approaches</a:t>
            </a:r>
          </a:p>
          <a:p>
            <a:pPr algn="l">
              <a:spcAft>
                <a:spcPts val="500"/>
              </a:spcAft>
              <a:defRPr sz="1500" b="0">
                <a:solidFill>
                  <a:srgbClr val="B0BEDC"/>
                </a:solidFill>
                <a:latin typeface="Aptos"/>
              </a:defRPr>
            </a:pPr>
            <a:r>
              <a:t>• Manual planning risks over- or under-provisioning</a:t>
            </a:r>
          </a:p>
          <a:p>
            <a:pPr algn="l">
              <a:spcAft>
                <a:spcPts val="500"/>
              </a:spcAft>
              <a:defRPr sz="1500" b="0">
                <a:solidFill>
                  <a:srgbClr val="B0BEDC"/>
                </a:solidFill>
                <a:latin typeface="Aptos"/>
              </a:defRPr>
            </a:pPr>
            <a:r>
              <a:t>• Follow-up and check-in data may be fragmented</a:t>
            </a:r>
          </a:p>
        </p:txBody>
      </p:sp>
      <p:sp>
        <p:nvSpPr>
          <p:cNvPr id="12" name="Rounded Rectangle 11"/>
          <p:cNvSpPr/>
          <p:nvPr/>
        </p:nvSpPr>
        <p:spPr>
          <a:xfrm>
            <a:off x="6263640" y="1325880"/>
            <a:ext cx="5303520" cy="438912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63640" y="1325880"/>
            <a:ext cx="64008" cy="4389120"/>
          </a:xfrm>
          <a:prstGeom prst="roundRect">
            <a:avLst>
              <a:gd name="adj" fmla="val 12000"/>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472184"/>
            <a:ext cx="491947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SmartEvent AI approach</a:t>
            </a:r>
          </a:p>
        </p:txBody>
      </p:sp>
      <p:sp>
        <p:nvSpPr>
          <p:cNvPr id="15" name="TextBox 14"/>
          <p:cNvSpPr txBox="1"/>
          <p:nvPr/>
        </p:nvSpPr>
        <p:spPr>
          <a:xfrm>
            <a:off x="6464807" y="1847088"/>
            <a:ext cx="4919472" cy="3767328"/>
          </a:xfrm>
          <a:prstGeom prst="rect">
            <a:avLst/>
          </a:prstGeom>
          <a:noFill/>
        </p:spPr>
        <p:txBody>
          <a:bodyPr wrap="square" lIns="36576" tIns="36576" rIns="36576" bIns="36576" anchor="t">
            <a:spAutoFit/>
          </a:bodyPr>
          <a:lstStyle/>
          <a:p>
            <a:pPr algn="l">
              <a:spcAft>
                <a:spcPts val="500"/>
              </a:spcAft>
              <a:defRPr sz="1500" b="0">
                <a:solidFill>
                  <a:srgbClr val="B0BEDC"/>
                </a:solidFill>
                <a:latin typeface="Aptos"/>
              </a:defRPr>
            </a:pPr>
            <a:r>
              <a:t>• Centralize event creation and registration</a:t>
            </a:r>
          </a:p>
          <a:p>
            <a:pPr algn="l">
              <a:spcAft>
                <a:spcPts val="500"/>
              </a:spcAft>
              <a:defRPr sz="1500" b="0">
                <a:solidFill>
                  <a:srgbClr val="B0BEDC"/>
                </a:solidFill>
                <a:latin typeface="Aptos"/>
              </a:defRPr>
            </a:pPr>
            <a:r>
              <a:t>• Track registration and check-in activity</a:t>
            </a:r>
          </a:p>
          <a:p>
            <a:pPr algn="l">
              <a:spcAft>
                <a:spcPts val="500"/>
              </a:spcAft>
              <a:defRPr sz="1500" b="0">
                <a:solidFill>
                  <a:srgbClr val="B0BEDC"/>
                </a:solidFill>
                <a:latin typeface="Aptos"/>
              </a:defRPr>
            </a:pPr>
            <a:r>
              <a:t>• Use forecasts to inform resource planning</a:t>
            </a:r>
          </a:p>
          <a:p>
            <a:pPr algn="l">
              <a:spcAft>
                <a:spcPts val="500"/>
              </a:spcAft>
              <a:defRPr sz="1500" b="0">
                <a:solidFill>
                  <a:srgbClr val="B0BEDC"/>
                </a:solidFill>
                <a:latin typeface="Aptos"/>
              </a:defRPr>
            </a:pPr>
            <a:r>
              <a:t>• Rank events against attendee interests</a:t>
            </a:r>
          </a:p>
          <a:p>
            <a:pPr algn="l">
              <a:spcAft>
                <a:spcPts val="500"/>
              </a:spcAft>
              <a:defRPr sz="1500" b="0">
                <a:solidFill>
                  <a:srgbClr val="B0BEDC"/>
                </a:solidFill>
                <a:latin typeface="Aptos"/>
              </a:defRPr>
            </a:pPr>
            <a:r>
              <a:t>• Surface no-show risk and demand trends</a:t>
            </a:r>
          </a:p>
        </p:txBody>
      </p:sp>
      <p:sp>
        <p:nvSpPr>
          <p:cNvPr id="16" name="Rounded Rectangle 15"/>
          <p:cNvSpPr/>
          <p:nvPr/>
        </p:nvSpPr>
        <p:spPr>
          <a:xfrm>
            <a:off x="4297680" y="5897880"/>
            <a:ext cx="3611880" cy="292608"/>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34256" y="5911596"/>
            <a:ext cx="3538728"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GOAL: DATA-INFORMED EVENT PLANNING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03</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Website Features &amp; User Journeys</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Two connected experiences around event data</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3/10</a:t>
            </a:r>
          </a:p>
        </p:txBody>
      </p:sp>
      <p:sp>
        <p:nvSpPr>
          <p:cNvPr id="8" name="Rounded Rectangle 7"/>
          <p:cNvSpPr/>
          <p:nvPr/>
        </p:nvSpPr>
        <p:spPr>
          <a:xfrm>
            <a:off x="594360" y="1325880"/>
            <a:ext cx="5303520" cy="196596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325880"/>
            <a:ext cx="64008" cy="1965960"/>
          </a:xfrm>
          <a:prstGeom prst="roundRect">
            <a:avLst>
              <a:gd name="adj" fmla="val 12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472184"/>
            <a:ext cx="491947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Attendee experience</a:t>
            </a:r>
          </a:p>
        </p:txBody>
      </p:sp>
      <p:sp>
        <p:nvSpPr>
          <p:cNvPr id="11" name="TextBox 10"/>
          <p:cNvSpPr txBox="1"/>
          <p:nvPr/>
        </p:nvSpPr>
        <p:spPr>
          <a:xfrm>
            <a:off x="795528" y="1847088"/>
            <a:ext cx="4919472" cy="1344167"/>
          </a:xfrm>
          <a:prstGeom prst="rect">
            <a:avLst/>
          </a:prstGeom>
          <a:noFill/>
        </p:spPr>
        <p:txBody>
          <a:bodyPr wrap="square" lIns="36576" tIns="36576" rIns="36576" bIns="36576" anchor="t">
            <a:spAutoFit/>
          </a:bodyPr>
          <a:lstStyle/>
          <a:p>
            <a:pPr algn="l">
              <a:spcAft>
                <a:spcPts val="500"/>
              </a:spcAft>
              <a:defRPr sz="1300" b="0">
                <a:solidFill>
                  <a:srgbClr val="B0BEDC"/>
                </a:solidFill>
                <a:latin typeface="Aptos"/>
              </a:defRPr>
            </a:pPr>
            <a:r>
              <a:t>Explore and search events • filter by category/date/location</a:t>
            </a:r>
          </a:p>
          <a:p>
            <a:pPr algn="l">
              <a:spcAft>
                <a:spcPts val="500"/>
              </a:spcAft>
              <a:defRPr sz="1300" b="0">
                <a:solidFill>
                  <a:srgbClr val="B0BEDC"/>
                </a:solidFill>
                <a:latin typeface="Aptos"/>
              </a:defRPr>
            </a:pPr>
            <a:r>
              <a:t>Register and view tickets • access personal event details</a:t>
            </a:r>
          </a:p>
          <a:p>
            <a:pPr algn="l">
              <a:spcAft>
                <a:spcPts val="500"/>
              </a:spcAft>
              <a:defRPr sz="1300" b="0">
                <a:solidFill>
                  <a:srgbClr val="B0BEDC"/>
                </a:solidFill>
                <a:latin typeface="Aptos"/>
              </a:defRPr>
            </a:pPr>
            <a:r>
              <a:t>Personalized recommendations (verify implementation)</a:t>
            </a:r>
          </a:p>
        </p:txBody>
      </p:sp>
      <p:sp>
        <p:nvSpPr>
          <p:cNvPr id="12" name="Rounded Rectangle 11"/>
          <p:cNvSpPr/>
          <p:nvPr/>
        </p:nvSpPr>
        <p:spPr>
          <a:xfrm>
            <a:off x="6263640" y="1325880"/>
            <a:ext cx="5303520" cy="196596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63640" y="1325880"/>
            <a:ext cx="64008" cy="1965960"/>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472184"/>
            <a:ext cx="491947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Organizer experience</a:t>
            </a:r>
          </a:p>
        </p:txBody>
      </p:sp>
      <p:sp>
        <p:nvSpPr>
          <p:cNvPr id="15" name="TextBox 14"/>
          <p:cNvSpPr txBox="1"/>
          <p:nvPr/>
        </p:nvSpPr>
        <p:spPr>
          <a:xfrm>
            <a:off x="6464807" y="1847088"/>
            <a:ext cx="4919472" cy="1344167"/>
          </a:xfrm>
          <a:prstGeom prst="rect">
            <a:avLst/>
          </a:prstGeom>
          <a:noFill/>
        </p:spPr>
        <p:txBody>
          <a:bodyPr wrap="square" lIns="36576" tIns="36576" rIns="36576" bIns="36576" anchor="t">
            <a:spAutoFit/>
          </a:bodyPr>
          <a:lstStyle/>
          <a:p>
            <a:pPr algn="l">
              <a:spcAft>
                <a:spcPts val="500"/>
              </a:spcAft>
              <a:defRPr sz="1300" b="0">
                <a:solidFill>
                  <a:srgbClr val="B0BEDC"/>
                </a:solidFill>
                <a:latin typeface="Aptos"/>
              </a:defRPr>
            </a:pPr>
            <a:r>
              <a:t>Create/manage events • monitor registration and capacity</a:t>
            </a:r>
          </a:p>
          <a:p>
            <a:pPr algn="l">
              <a:spcAft>
                <a:spcPts val="500"/>
              </a:spcAft>
              <a:defRPr sz="1300" b="0">
                <a:solidFill>
                  <a:srgbClr val="B0BEDC"/>
                </a:solidFill>
                <a:latin typeface="Aptos"/>
              </a:defRPr>
            </a:pPr>
            <a:r>
              <a:t>Review check-ins and event status</a:t>
            </a:r>
          </a:p>
          <a:p>
            <a:pPr algn="l">
              <a:spcAft>
                <a:spcPts val="500"/>
              </a:spcAft>
              <a:defRPr sz="1300" b="0">
                <a:solidFill>
                  <a:srgbClr val="B0BEDC"/>
                </a:solidFill>
                <a:latin typeface="Aptos"/>
              </a:defRPr>
            </a:pPr>
            <a:r>
              <a:t>Forecasts and ML insights (verify implementation)</a:t>
            </a:r>
          </a:p>
        </p:txBody>
      </p:sp>
      <p:sp>
        <p:nvSpPr>
          <p:cNvPr id="16" name="TextBox 15"/>
          <p:cNvSpPr txBox="1"/>
          <p:nvPr/>
        </p:nvSpPr>
        <p:spPr>
          <a:xfrm>
            <a:off x="685800" y="3675887"/>
            <a:ext cx="3200400" cy="274320"/>
          </a:xfrm>
          <a:prstGeom prst="rect">
            <a:avLst/>
          </a:prstGeom>
          <a:noFill/>
        </p:spPr>
        <p:txBody>
          <a:bodyPr wrap="square" lIns="36576" tIns="36576" rIns="36576" bIns="36576" anchor="t">
            <a:spAutoFit/>
          </a:bodyPr>
          <a:lstStyle/>
          <a:p>
            <a:pPr algn="l">
              <a:spcAft>
                <a:spcPts val="500"/>
              </a:spcAft>
              <a:defRPr sz="1400" b="1">
                <a:solidFill>
                  <a:srgbClr val="F8FAFF"/>
                </a:solidFill>
                <a:latin typeface="Aptos"/>
              </a:defRPr>
            </a:pPr>
            <a:r>
              <a:t>Technology architecture proposed in brief</a:t>
            </a:r>
          </a:p>
        </p:txBody>
      </p:sp>
      <p:sp>
        <p:nvSpPr>
          <p:cNvPr id="17" name="Rounded Rectangle 16"/>
          <p:cNvSpPr/>
          <p:nvPr/>
        </p:nvSpPr>
        <p:spPr>
          <a:xfrm>
            <a:off x="658368" y="4224528"/>
            <a:ext cx="2048256" cy="1051560"/>
          </a:xfrm>
          <a:prstGeom prst="roundRect">
            <a:avLst>
              <a:gd name="adj" fmla="val 12000"/>
            </a:avLst>
          </a:prstGeom>
          <a:solidFill>
            <a:srgbClr val="1C2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4407408"/>
            <a:ext cx="1865376" cy="256032"/>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React + Vite</a:t>
            </a:r>
          </a:p>
        </p:txBody>
      </p:sp>
      <p:sp>
        <p:nvSpPr>
          <p:cNvPr id="19" name="TextBox 18"/>
          <p:cNvSpPr txBox="1"/>
          <p:nvPr/>
        </p:nvSpPr>
        <p:spPr>
          <a:xfrm>
            <a:off x="749808" y="4754880"/>
            <a:ext cx="1865376" cy="219456"/>
          </a:xfrm>
          <a:prstGeom prst="rect">
            <a:avLst/>
          </a:prstGeom>
          <a:noFill/>
        </p:spPr>
        <p:txBody>
          <a:bodyPr wrap="square" lIns="36576" tIns="36576" rIns="36576" bIns="36576" anchor="t">
            <a:spAutoFit/>
          </a:bodyPr>
          <a:lstStyle/>
          <a:p>
            <a:pPr algn="ctr">
              <a:spcAft>
                <a:spcPts val="500"/>
              </a:spcAft>
              <a:defRPr sz="1000" b="0">
                <a:solidFill>
                  <a:srgbClr val="4285F4"/>
                </a:solidFill>
                <a:latin typeface="Aptos"/>
              </a:defRPr>
            </a:pPr>
            <a:r>
              <a:t>Frontend</a:t>
            </a:r>
          </a:p>
        </p:txBody>
      </p:sp>
      <p:sp>
        <p:nvSpPr>
          <p:cNvPr id="20" name="Rounded Rectangle 19"/>
          <p:cNvSpPr/>
          <p:nvPr/>
        </p:nvSpPr>
        <p:spPr>
          <a:xfrm>
            <a:off x="2962656" y="4224528"/>
            <a:ext cx="2048256" cy="1051560"/>
          </a:xfrm>
          <a:prstGeom prst="roundRect">
            <a:avLst>
              <a:gd name="adj" fmla="val 12000"/>
            </a:avLst>
          </a:prstGeom>
          <a:solidFill>
            <a:srgbClr val="1C2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54096" y="4407408"/>
            <a:ext cx="1865376" cy="256032"/>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Node + Express</a:t>
            </a:r>
          </a:p>
        </p:txBody>
      </p:sp>
      <p:sp>
        <p:nvSpPr>
          <p:cNvPr id="22" name="TextBox 21"/>
          <p:cNvSpPr txBox="1"/>
          <p:nvPr/>
        </p:nvSpPr>
        <p:spPr>
          <a:xfrm>
            <a:off x="3054096" y="4754880"/>
            <a:ext cx="1865376" cy="219456"/>
          </a:xfrm>
          <a:prstGeom prst="rect">
            <a:avLst/>
          </a:prstGeom>
          <a:noFill/>
        </p:spPr>
        <p:txBody>
          <a:bodyPr wrap="square" lIns="36576" tIns="36576" rIns="36576" bIns="36576" anchor="t">
            <a:spAutoFit/>
          </a:bodyPr>
          <a:lstStyle/>
          <a:p>
            <a:pPr algn="ctr">
              <a:spcAft>
                <a:spcPts val="500"/>
              </a:spcAft>
              <a:defRPr sz="1000" b="0">
                <a:solidFill>
                  <a:srgbClr val="36D3EB"/>
                </a:solidFill>
                <a:latin typeface="Aptos"/>
              </a:defRPr>
            </a:pPr>
            <a:r>
              <a:t>REST API</a:t>
            </a:r>
          </a:p>
        </p:txBody>
      </p:sp>
      <p:sp>
        <p:nvSpPr>
          <p:cNvPr id="23" name="Rounded Rectangle 22"/>
          <p:cNvSpPr/>
          <p:nvPr/>
        </p:nvSpPr>
        <p:spPr>
          <a:xfrm>
            <a:off x="5266944" y="4224528"/>
            <a:ext cx="2048256" cy="1051560"/>
          </a:xfrm>
          <a:prstGeom prst="roundRect">
            <a:avLst>
              <a:gd name="adj" fmla="val 12000"/>
            </a:avLst>
          </a:prstGeom>
          <a:solidFill>
            <a:srgbClr val="1C2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58383" y="4407408"/>
            <a:ext cx="1865376" cy="256032"/>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PostgreSQL</a:t>
            </a:r>
          </a:p>
        </p:txBody>
      </p:sp>
      <p:sp>
        <p:nvSpPr>
          <p:cNvPr id="25" name="TextBox 24"/>
          <p:cNvSpPr txBox="1"/>
          <p:nvPr/>
        </p:nvSpPr>
        <p:spPr>
          <a:xfrm>
            <a:off x="5358383" y="4754880"/>
            <a:ext cx="1865376" cy="219456"/>
          </a:xfrm>
          <a:prstGeom prst="rect">
            <a:avLst/>
          </a:prstGeom>
          <a:noFill/>
        </p:spPr>
        <p:txBody>
          <a:bodyPr wrap="square" lIns="36576" tIns="36576" rIns="36576" bIns="36576" anchor="t">
            <a:spAutoFit/>
          </a:bodyPr>
          <a:lstStyle/>
          <a:p>
            <a:pPr algn="ctr">
              <a:spcAft>
                <a:spcPts val="500"/>
              </a:spcAft>
              <a:defRPr sz="1000" b="0">
                <a:solidFill>
                  <a:srgbClr val="915EFF"/>
                </a:solidFill>
                <a:latin typeface="Aptos"/>
              </a:defRPr>
            </a:pPr>
            <a:r>
              <a:t>Persistence</a:t>
            </a:r>
          </a:p>
        </p:txBody>
      </p:sp>
      <p:sp>
        <p:nvSpPr>
          <p:cNvPr id="26" name="Rounded Rectangle 25"/>
          <p:cNvSpPr/>
          <p:nvPr/>
        </p:nvSpPr>
        <p:spPr>
          <a:xfrm>
            <a:off x="7571232" y="4224528"/>
            <a:ext cx="2048256" cy="1051560"/>
          </a:xfrm>
          <a:prstGeom prst="roundRect">
            <a:avLst>
              <a:gd name="adj" fmla="val 12000"/>
            </a:avLst>
          </a:prstGeom>
          <a:solidFill>
            <a:srgbClr val="1C2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62672" y="4407408"/>
            <a:ext cx="1865376" cy="256032"/>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Socket.IO</a:t>
            </a:r>
          </a:p>
        </p:txBody>
      </p:sp>
      <p:sp>
        <p:nvSpPr>
          <p:cNvPr id="28" name="TextBox 27"/>
          <p:cNvSpPr txBox="1"/>
          <p:nvPr/>
        </p:nvSpPr>
        <p:spPr>
          <a:xfrm>
            <a:off x="7662672" y="4754880"/>
            <a:ext cx="1865376" cy="219456"/>
          </a:xfrm>
          <a:prstGeom prst="rect">
            <a:avLst/>
          </a:prstGeom>
          <a:noFill/>
        </p:spPr>
        <p:txBody>
          <a:bodyPr wrap="square" lIns="36576" tIns="36576" rIns="36576" bIns="36576" anchor="t">
            <a:spAutoFit/>
          </a:bodyPr>
          <a:lstStyle/>
          <a:p>
            <a:pPr algn="ctr">
              <a:spcAft>
                <a:spcPts val="500"/>
              </a:spcAft>
              <a:defRPr sz="1000" b="0">
                <a:solidFill>
                  <a:srgbClr val="45D2A0"/>
                </a:solidFill>
                <a:latin typeface="Aptos"/>
              </a:defRPr>
            </a:pPr>
            <a:r>
              <a:t>Live updates</a:t>
            </a:r>
          </a:p>
        </p:txBody>
      </p:sp>
      <p:sp>
        <p:nvSpPr>
          <p:cNvPr id="29" name="Rounded Rectangle 28"/>
          <p:cNvSpPr/>
          <p:nvPr/>
        </p:nvSpPr>
        <p:spPr>
          <a:xfrm>
            <a:off x="9875520" y="4224528"/>
            <a:ext cx="2048256" cy="1051560"/>
          </a:xfrm>
          <a:prstGeom prst="roundRect">
            <a:avLst>
              <a:gd name="adj" fmla="val 12000"/>
            </a:avLst>
          </a:prstGeom>
          <a:solidFill>
            <a:srgbClr val="1C2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66960" y="4407408"/>
            <a:ext cx="1865376" cy="256032"/>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Python / FastAPI</a:t>
            </a:r>
          </a:p>
        </p:txBody>
      </p:sp>
      <p:sp>
        <p:nvSpPr>
          <p:cNvPr id="31" name="TextBox 30"/>
          <p:cNvSpPr txBox="1"/>
          <p:nvPr/>
        </p:nvSpPr>
        <p:spPr>
          <a:xfrm>
            <a:off x="9966960" y="4754880"/>
            <a:ext cx="1865376" cy="219456"/>
          </a:xfrm>
          <a:prstGeom prst="rect">
            <a:avLst/>
          </a:prstGeom>
          <a:noFill/>
        </p:spPr>
        <p:txBody>
          <a:bodyPr wrap="square" lIns="36576" tIns="36576" rIns="36576" bIns="36576" anchor="t">
            <a:spAutoFit/>
          </a:bodyPr>
          <a:lstStyle/>
          <a:p>
            <a:pPr algn="ctr">
              <a:spcAft>
                <a:spcPts val="500"/>
              </a:spcAft>
              <a:defRPr sz="1000" b="0">
                <a:solidFill>
                  <a:srgbClr val="FFBE50"/>
                </a:solidFill>
                <a:latin typeface="Aptos"/>
              </a:defRPr>
            </a:pPr>
            <a:r>
              <a:t>ML service</a:t>
            </a:r>
          </a:p>
        </p:txBody>
      </p:sp>
      <p:sp>
        <p:nvSpPr>
          <p:cNvPr id="32" name="Rounded Rectangle 31"/>
          <p:cNvSpPr/>
          <p:nvPr/>
        </p:nvSpPr>
        <p:spPr>
          <a:xfrm>
            <a:off x="685800" y="5596128"/>
            <a:ext cx="2103120" cy="292608"/>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 y="5609844"/>
            <a:ext cx="2029967"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IMPLEMENTED: VERIFY IN REPO</a:t>
            </a:r>
          </a:p>
        </p:txBody>
      </p:sp>
      <p:sp>
        <p:nvSpPr>
          <p:cNvPr id="34" name="TextBox 33"/>
          <p:cNvSpPr txBox="1"/>
          <p:nvPr/>
        </p:nvSpPr>
        <p:spPr>
          <a:xfrm>
            <a:off x="2971800" y="5605272"/>
            <a:ext cx="8321040" cy="38404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Do not claim a component is live until its route, service, or UI behavior is verified.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04</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System Architecture &amp; Workflow</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Reference architecture from the project brief — deployment status must be verified</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4/10</a:t>
            </a:r>
          </a:p>
        </p:txBody>
      </p:sp>
      <p:sp>
        <p:nvSpPr>
          <p:cNvPr id="8" name="Rounded Rectangle 7"/>
          <p:cNvSpPr/>
          <p:nvPr/>
        </p:nvSpPr>
        <p:spPr>
          <a:xfrm>
            <a:off x="502920" y="1417320"/>
            <a:ext cx="1874519" cy="822960"/>
          </a:xfrm>
          <a:prstGeom prst="roundRect">
            <a:avLst>
              <a:gd name="adj" fmla="val 12000"/>
            </a:avLst>
          </a:prstGeom>
          <a:solidFill>
            <a:srgbClr val="1C284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536192"/>
            <a:ext cx="1728216"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Attendee /</a:t>
            </a:r>
          </a:p>
          <a:p>
            <a:pPr algn="ctr">
              <a:spcAft>
                <a:spcPts val="500"/>
              </a:spcAft>
              <a:defRPr sz="1300" b="1">
                <a:solidFill>
                  <a:srgbClr val="F8FAFF"/>
                </a:solidFill>
                <a:latin typeface="Aptos"/>
              </a:defRPr>
            </a:pPr>
            <a:r>
              <a:t>Organizer</a:t>
            </a:r>
          </a:p>
        </p:txBody>
      </p:sp>
      <p:sp>
        <p:nvSpPr>
          <p:cNvPr id="10" name="Rounded Rectangle 9"/>
          <p:cNvSpPr/>
          <p:nvPr/>
        </p:nvSpPr>
        <p:spPr>
          <a:xfrm>
            <a:off x="2788920" y="1417320"/>
            <a:ext cx="2057400" cy="822960"/>
          </a:xfrm>
          <a:prstGeom prst="roundRect">
            <a:avLst>
              <a:gd name="adj" fmla="val 12000"/>
            </a:avLst>
          </a:prstGeom>
          <a:solidFill>
            <a:srgbClr val="1C284C"/>
          </a:solidFill>
          <a:ln w="15240">
            <a:solidFill>
              <a:srgbClr val="36D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62072" y="1536192"/>
            <a:ext cx="1911095"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React + Vite</a:t>
            </a:r>
          </a:p>
          <a:p>
            <a:pPr algn="ctr">
              <a:spcAft>
                <a:spcPts val="500"/>
              </a:spcAft>
              <a:defRPr sz="1300" b="1">
                <a:solidFill>
                  <a:srgbClr val="F8FAFF"/>
                </a:solidFill>
                <a:latin typeface="Aptos"/>
              </a:defRPr>
            </a:pPr>
            <a:r>
              <a:t>Frontend</a:t>
            </a:r>
          </a:p>
        </p:txBody>
      </p:sp>
      <p:sp>
        <p:nvSpPr>
          <p:cNvPr id="12" name="Rounded Rectangle 11"/>
          <p:cNvSpPr/>
          <p:nvPr/>
        </p:nvSpPr>
        <p:spPr>
          <a:xfrm>
            <a:off x="5303520" y="1417320"/>
            <a:ext cx="2057400" cy="822960"/>
          </a:xfrm>
          <a:prstGeom prst="roundRect">
            <a:avLst>
              <a:gd name="adj" fmla="val 12000"/>
            </a:avLst>
          </a:prstGeom>
          <a:solidFill>
            <a:srgbClr val="1C284C"/>
          </a:solidFill>
          <a:ln w="15240">
            <a:solidFill>
              <a:srgbClr val="915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76672" y="1536192"/>
            <a:ext cx="1911095"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Node.js + Express</a:t>
            </a:r>
          </a:p>
          <a:p>
            <a:pPr algn="ctr">
              <a:spcAft>
                <a:spcPts val="500"/>
              </a:spcAft>
              <a:defRPr sz="1300" b="1">
                <a:solidFill>
                  <a:srgbClr val="F8FAFF"/>
                </a:solidFill>
                <a:latin typeface="Aptos"/>
              </a:defRPr>
            </a:pPr>
            <a:r>
              <a:t>REST API</a:t>
            </a:r>
          </a:p>
        </p:txBody>
      </p:sp>
      <p:sp>
        <p:nvSpPr>
          <p:cNvPr id="14" name="Rounded Rectangle 13"/>
          <p:cNvSpPr/>
          <p:nvPr/>
        </p:nvSpPr>
        <p:spPr>
          <a:xfrm>
            <a:off x="7818120" y="1417320"/>
            <a:ext cx="1828800" cy="822960"/>
          </a:xfrm>
          <a:prstGeom prst="roundRect">
            <a:avLst>
              <a:gd name="adj" fmla="val 12000"/>
            </a:avLst>
          </a:prstGeom>
          <a:solidFill>
            <a:srgbClr val="1C284C"/>
          </a:solidFill>
          <a:ln w="15240">
            <a:solidFill>
              <a:srgbClr val="45D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91272" y="1536192"/>
            <a:ext cx="1682496"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PostgreSQL</a:t>
            </a:r>
          </a:p>
          <a:p>
            <a:pPr algn="ctr">
              <a:spcAft>
                <a:spcPts val="500"/>
              </a:spcAft>
              <a:defRPr sz="1300" b="1">
                <a:solidFill>
                  <a:srgbClr val="F8FAFF"/>
                </a:solidFill>
                <a:latin typeface="Aptos"/>
              </a:defRPr>
            </a:pPr>
            <a:r>
              <a:t>Database</a:t>
            </a:r>
          </a:p>
        </p:txBody>
      </p:sp>
      <p:cxnSp>
        <p:nvCxnSpPr>
          <p:cNvPr id="16" name="Connector 15"/>
          <p:cNvCxnSpPr/>
          <p:nvPr/>
        </p:nvCxnSpPr>
        <p:spPr>
          <a:xfrm>
            <a:off x="2377439" y="1828800"/>
            <a:ext cx="411481" cy="0"/>
          </a:xfrm>
          <a:prstGeom prst="line">
            <a:avLst/>
          </a:prstGeom>
          <a:ln w="25400">
            <a:solidFill>
              <a:srgbClr val="4285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846320" y="1828800"/>
            <a:ext cx="457200" cy="0"/>
          </a:xfrm>
          <a:prstGeom prst="line">
            <a:avLst/>
          </a:prstGeom>
          <a:ln w="25400">
            <a:solidFill>
              <a:srgbClr val="4285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360920" y="1828800"/>
            <a:ext cx="457200" cy="0"/>
          </a:xfrm>
          <a:prstGeom prst="line">
            <a:avLst/>
          </a:prstGeom>
          <a:ln w="25400">
            <a:solidFill>
              <a:srgbClr val="4285F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2816352"/>
            <a:ext cx="1828800" cy="256032"/>
          </a:xfrm>
          <a:prstGeom prst="rect">
            <a:avLst/>
          </a:prstGeom>
          <a:noFill/>
        </p:spPr>
        <p:txBody>
          <a:bodyPr wrap="square" lIns="36576" tIns="36576" rIns="36576" bIns="36576" anchor="t">
            <a:spAutoFit/>
          </a:bodyPr>
          <a:lstStyle/>
          <a:p>
            <a:pPr algn="l">
              <a:spcAft>
                <a:spcPts val="500"/>
              </a:spcAft>
              <a:defRPr sz="1100" b="1">
                <a:solidFill>
                  <a:srgbClr val="36D3EB"/>
                </a:solidFill>
                <a:latin typeface="Aptos"/>
              </a:defRPr>
            </a:pPr>
            <a:r>
              <a:t>ML INFERENCE LANE</a:t>
            </a:r>
          </a:p>
        </p:txBody>
      </p:sp>
      <p:sp>
        <p:nvSpPr>
          <p:cNvPr id="20" name="Rounded Rectangle 19"/>
          <p:cNvSpPr/>
          <p:nvPr/>
        </p:nvSpPr>
        <p:spPr>
          <a:xfrm>
            <a:off x="640080" y="3246120"/>
            <a:ext cx="1828800" cy="822960"/>
          </a:xfrm>
          <a:prstGeom prst="roundRect">
            <a:avLst>
              <a:gd name="adj" fmla="val 12000"/>
            </a:avLst>
          </a:prstGeom>
          <a:solidFill>
            <a:srgbClr val="1C284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1" y="3355848"/>
            <a:ext cx="1682496" cy="603504"/>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Event +</a:t>
            </a:r>
          </a:p>
          <a:p>
            <a:pPr algn="ctr">
              <a:spcAft>
                <a:spcPts val="500"/>
              </a:spcAft>
              <a:defRPr sz="1200" b="1">
                <a:solidFill>
                  <a:srgbClr val="F8FAFF"/>
                </a:solidFill>
                <a:latin typeface="Aptos"/>
              </a:defRPr>
            </a:pPr>
            <a:r>
              <a:t>registration data</a:t>
            </a:r>
          </a:p>
        </p:txBody>
      </p:sp>
      <p:sp>
        <p:nvSpPr>
          <p:cNvPr id="22" name="Rounded Rectangle 21"/>
          <p:cNvSpPr/>
          <p:nvPr/>
        </p:nvSpPr>
        <p:spPr>
          <a:xfrm>
            <a:off x="2880360" y="3246120"/>
            <a:ext cx="1828800" cy="822960"/>
          </a:xfrm>
          <a:prstGeom prst="roundRect">
            <a:avLst>
              <a:gd name="adj" fmla="val 12000"/>
            </a:avLst>
          </a:prstGeom>
          <a:solidFill>
            <a:srgbClr val="1C284C"/>
          </a:solidFill>
          <a:ln w="15240">
            <a:solidFill>
              <a:srgbClr val="36D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53512" y="3355848"/>
            <a:ext cx="1682496" cy="603504"/>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Preprocessing</a:t>
            </a:r>
          </a:p>
        </p:txBody>
      </p:sp>
      <p:sp>
        <p:nvSpPr>
          <p:cNvPr id="24" name="Rounded Rectangle 23"/>
          <p:cNvSpPr/>
          <p:nvPr/>
        </p:nvSpPr>
        <p:spPr>
          <a:xfrm>
            <a:off x="5120640" y="3246120"/>
            <a:ext cx="1828800" cy="822960"/>
          </a:xfrm>
          <a:prstGeom prst="roundRect">
            <a:avLst>
              <a:gd name="adj" fmla="val 12000"/>
            </a:avLst>
          </a:prstGeom>
          <a:solidFill>
            <a:srgbClr val="1C284C"/>
          </a:solidFill>
          <a:ln w="15240">
            <a:solidFill>
              <a:srgbClr val="915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93792" y="3355848"/>
            <a:ext cx="1682496" cy="603504"/>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ML models</a:t>
            </a:r>
          </a:p>
        </p:txBody>
      </p:sp>
      <p:sp>
        <p:nvSpPr>
          <p:cNvPr id="26" name="Rounded Rectangle 25"/>
          <p:cNvSpPr/>
          <p:nvPr/>
        </p:nvSpPr>
        <p:spPr>
          <a:xfrm>
            <a:off x="7360920" y="3246120"/>
            <a:ext cx="1828800" cy="822960"/>
          </a:xfrm>
          <a:prstGeom prst="roundRect">
            <a:avLst>
              <a:gd name="adj" fmla="val 12000"/>
            </a:avLst>
          </a:prstGeom>
          <a:solidFill>
            <a:srgbClr val="1C284C"/>
          </a:solidFill>
          <a:ln w="15240">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34072" y="3355848"/>
            <a:ext cx="1682496" cy="603504"/>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Python FastAPI</a:t>
            </a:r>
          </a:p>
          <a:p>
            <a:pPr algn="ctr">
              <a:spcAft>
                <a:spcPts val="500"/>
              </a:spcAft>
              <a:defRPr sz="1200" b="1">
                <a:solidFill>
                  <a:srgbClr val="F8FAFF"/>
                </a:solidFill>
                <a:latin typeface="Aptos"/>
              </a:defRPr>
            </a:pPr>
            <a:r>
              <a:t>(if implemented)</a:t>
            </a:r>
          </a:p>
        </p:txBody>
      </p:sp>
      <p:sp>
        <p:nvSpPr>
          <p:cNvPr id="28" name="Rounded Rectangle 27"/>
          <p:cNvSpPr/>
          <p:nvPr/>
        </p:nvSpPr>
        <p:spPr>
          <a:xfrm>
            <a:off x="9601200" y="3246120"/>
            <a:ext cx="1920240" cy="822960"/>
          </a:xfrm>
          <a:prstGeom prst="roundRect">
            <a:avLst>
              <a:gd name="adj" fmla="val 12000"/>
            </a:avLst>
          </a:prstGeom>
          <a:solidFill>
            <a:srgbClr val="1C284C"/>
          </a:solidFill>
          <a:ln w="15240">
            <a:solidFill>
              <a:srgbClr val="45D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3355848"/>
            <a:ext cx="1773936" cy="603504"/>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ML dashboard</a:t>
            </a:r>
          </a:p>
        </p:txBody>
      </p:sp>
      <p:cxnSp>
        <p:nvCxnSpPr>
          <p:cNvPr id="30" name="Connector 29"/>
          <p:cNvCxnSpPr/>
          <p:nvPr/>
        </p:nvCxnSpPr>
        <p:spPr>
          <a:xfrm>
            <a:off x="2468880" y="3657600"/>
            <a:ext cx="411480" cy="0"/>
          </a:xfrm>
          <a:prstGeom prst="line">
            <a:avLst/>
          </a:prstGeom>
          <a:ln w="2286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09160" y="3657600"/>
            <a:ext cx="411480" cy="0"/>
          </a:xfrm>
          <a:prstGeom prst="line">
            <a:avLst/>
          </a:prstGeom>
          <a:ln w="2286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949440" y="3657600"/>
            <a:ext cx="411480" cy="0"/>
          </a:xfrm>
          <a:prstGeom prst="line">
            <a:avLst/>
          </a:prstGeom>
          <a:ln w="2286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189720" y="3657600"/>
            <a:ext cx="411480" cy="0"/>
          </a:xfrm>
          <a:prstGeom prst="line">
            <a:avLst/>
          </a:prstGeom>
          <a:ln w="22860">
            <a:solidFill>
              <a:srgbClr val="36D3EB"/>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828800" y="4663440"/>
            <a:ext cx="2743200" cy="658368"/>
          </a:xfrm>
          <a:prstGeom prst="roundRect">
            <a:avLst>
              <a:gd name="adj" fmla="val 12000"/>
            </a:avLst>
          </a:prstGeom>
          <a:solidFill>
            <a:srgbClr val="23325C"/>
          </a:solidFill>
          <a:ln w="15240">
            <a:solidFill>
              <a:srgbClr val="45D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920240" y="4800600"/>
            <a:ext cx="2560320" cy="320040"/>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Socket.IO • live updates</a:t>
            </a:r>
          </a:p>
        </p:txBody>
      </p:sp>
      <p:sp>
        <p:nvSpPr>
          <p:cNvPr id="37" name="Rounded Rectangle 36"/>
          <p:cNvSpPr/>
          <p:nvPr/>
        </p:nvSpPr>
        <p:spPr>
          <a:xfrm>
            <a:off x="5120640" y="4663440"/>
            <a:ext cx="4800600" cy="658368"/>
          </a:xfrm>
          <a:prstGeom prst="roundRect">
            <a:avLst>
              <a:gd name="adj" fmla="val 12000"/>
            </a:avLst>
          </a:prstGeom>
          <a:solidFill>
            <a:srgbClr val="23325C"/>
          </a:solidFill>
          <a:ln w="15240">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257800" y="4800600"/>
            <a:ext cx="4526280" cy="320040"/>
          </a:xfrm>
          <a:prstGeom prst="rect">
            <a:avLst/>
          </a:prstGeom>
          <a:noFill/>
        </p:spPr>
        <p:txBody>
          <a:bodyPr wrap="square" lIns="36576" tIns="36576" rIns="36576" bIns="36576" anchor="t">
            <a:spAutoFit/>
          </a:bodyPr>
          <a:lstStyle/>
          <a:p>
            <a:pPr algn="ctr">
              <a:spcAft>
                <a:spcPts val="500"/>
              </a:spcAft>
              <a:defRPr sz="1100" b="1">
                <a:solidFill>
                  <a:srgbClr val="F8FAFF"/>
                </a:solidFill>
                <a:latin typeface="Aptos"/>
              </a:defRPr>
            </a:pPr>
            <a:r>
              <a:t>Create → Register → Store → Predict → Review → Check-in</a:t>
            </a:r>
          </a:p>
        </p:txBody>
      </p:sp>
      <p:sp>
        <p:nvSpPr>
          <p:cNvPr id="39" name="Rounded Rectangle 38"/>
          <p:cNvSpPr/>
          <p:nvPr/>
        </p:nvSpPr>
        <p:spPr>
          <a:xfrm>
            <a:off x="640080" y="5715000"/>
            <a:ext cx="1828800" cy="292608"/>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6656" y="5728716"/>
            <a:ext cx="1755648"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REFERENCE DESIGN</a:t>
            </a:r>
          </a:p>
        </p:txBody>
      </p:sp>
      <p:sp>
        <p:nvSpPr>
          <p:cNvPr id="41" name="TextBox 40"/>
          <p:cNvSpPr txBox="1"/>
          <p:nvPr/>
        </p:nvSpPr>
        <p:spPr>
          <a:xfrm>
            <a:off x="2697480" y="5715000"/>
            <a:ext cx="8778240" cy="320040"/>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Solid components are architectural targets; validate actual code and 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05</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ML Module 1 — Attendance Prediction</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Goal: estimate expected attendees, not just registrations</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5/10</a:t>
            </a:r>
          </a:p>
        </p:txBody>
      </p:sp>
      <p:sp>
        <p:nvSpPr>
          <p:cNvPr id="8" name="Rounded Rectangle 7"/>
          <p:cNvSpPr/>
          <p:nvPr/>
        </p:nvSpPr>
        <p:spPr>
          <a:xfrm>
            <a:off x="658368" y="1234440"/>
            <a:ext cx="1645920" cy="292608"/>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1248156"/>
            <a:ext cx="1572768"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PROPOSED MODEL</a:t>
            </a:r>
          </a:p>
        </p:txBody>
      </p:sp>
      <p:sp>
        <p:nvSpPr>
          <p:cNvPr id="10" name="TextBox 9"/>
          <p:cNvSpPr txBox="1"/>
          <p:nvPr/>
        </p:nvSpPr>
        <p:spPr>
          <a:xfrm>
            <a:off x="658368" y="1691640"/>
            <a:ext cx="4937760" cy="384048"/>
          </a:xfrm>
          <a:prstGeom prst="rect">
            <a:avLst/>
          </a:prstGeom>
          <a:noFill/>
        </p:spPr>
        <p:txBody>
          <a:bodyPr wrap="square" lIns="36576" tIns="36576" rIns="36576" bIns="36576" anchor="t">
            <a:spAutoFit/>
          </a:bodyPr>
          <a:lstStyle/>
          <a:p>
            <a:pPr algn="l">
              <a:spcAft>
                <a:spcPts val="500"/>
              </a:spcAft>
              <a:defRPr sz="1800" b="1">
                <a:solidFill>
                  <a:srgbClr val="F8FAFF"/>
                </a:solidFill>
                <a:latin typeface="Aptos"/>
              </a:defRPr>
            </a:pPr>
            <a:r>
              <a:t>Supervised regression • Random Forest Regressor</a:t>
            </a:r>
          </a:p>
        </p:txBody>
      </p:sp>
      <p:sp>
        <p:nvSpPr>
          <p:cNvPr id="11" name="Oval 10"/>
          <p:cNvSpPr/>
          <p:nvPr/>
        </p:nvSpPr>
        <p:spPr>
          <a:xfrm>
            <a:off x="713232" y="2350008"/>
            <a:ext cx="82296" cy="82296"/>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267712"/>
            <a:ext cx="4919472" cy="484632"/>
          </a:xfrm>
          <a:prstGeom prst="rect">
            <a:avLst/>
          </a:prstGeom>
          <a:noFill/>
        </p:spPr>
        <p:txBody>
          <a:bodyPr wrap="square" lIns="36576" tIns="36576" rIns="36576" bIns="36576" anchor="t">
            <a:spAutoFit/>
          </a:bodyPr>
          <a:lstStyle/>
          <a:p>
            <a:pPr algn="l">
              <a:spcAft>
                <a:spcPts val="500"/>
              </a:spcAft>
              <a:defRPr sz="1400" b="0">
                <a:solidFill>
                  <a:srgbClr val="F8FAFF"/>
                </a:solidFill>
                <a:latin typeface="Aptos"/>
              </a:defRPr>
            </a:pPr>
            <a:r>
              <a:t>Inputs: confirmed registrations, event category, ticket price</a:t>
            </a:r>
          </a:p>
        </p:txBody>
      </p:sp>
      <p:sp>
        <p:nvSpPr>
          <p:cNvPr id="13" name="Oval 12"/>
          <p:cNvSpPr/>
          <p:nvPr/>
        </p:nvSpPr>
        <p:spPr>
          <a:xfrm>
            <a:off x="713232" y="2852928"/>
            <a:ext cx="82296" cy="82296"/>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2770632"/>
            <a:ext cx="4919472" cy="484632"/>
          </a:xfrm>
          <a:prstGeom prst="rect">
            <a:avLst/>
          </a:prstGeom>
          <a:noFill/>
        </p:spPr>
        <p:txBody>
          <a:bodyPr wrap="square" lIns="36576" tIns="36576" rIns="36576" bIns="36576" anchor="t">
            <a:spAutoFit/>
          </a:bodyPr>
          <a:lstStyle/>
          <a:p>
            <a:pPr algn="l">
              <a:spcAft>
                <a:spcPts val="500"/>
              </a:spcAft>
              <a:defRPr sz="1400" b="0">
                <a:solidFill>
                  <a:srgbClr val="F8FAFF"/>
                </a:solidFill>
                <a:latin typeface="Aptos"/>
              </a:defRPr>
            </a:pPr>
            <a:r>
              <a:t>Additional features: capacity, weekday, days remaining</a:t>
            </a:r>
          </a:p>
        </p:txBody>
      </p:sp>
      <p:sp>
        <p:nvSpPr>
          <p:cNvPr id="15" name="Oval 14"/>
          <p:cNvSpPr/>
          <p:nvPr/>
        </p:nvSpPr>
        <p:spPr>
          <a:xfrm>
            <a:off x="713232" y="3355848"/>
            <a:ext cx="82296" cy="82296"/>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273552"/>
            <a:ext cx="4919472" cy="484632"/>
          </a:xfrm>
          <a:prstGeom prst="rect">
            <a:avLst/>
          </a:prstGeom>
          <a:noFill/>
        </p:spPr>
        <p:txBody>
          <a:bodyPr wrap="square" lIns="36576" tIns="36576" rIns="36576" bIns="36576" anchor="t">
            <a:spAutoFit/>
          </a:bodyPr>
          <a:lstStyle/>
          <a:p>
            <a:pPr algn="l">
              <a:spcAft>
                <a:spcPts val="500"/>
              </a:spcAft>
              <a:defRPr sz="1400" b="0">
                <a:solidFill>
                  <a:srgbClr val="F8FAFF"/>
                </a:solidFill>
                <a:latin typeface="Aptos"/>
              </a:defRPr>
            </a:pPr>
            <a:r>
              <a:t>Historical actual attendance is needed for training labels</a:t>
            </a:r>
          </a:p>
        </p:txBody>
      </p:sp>
      <p:sp>
        <p:nvSpPr>
          <p:cNvPr id="17" name="Oval 16"/>
          <p:cNvSpPr/>
          <p:nvPr/>
        </p:nvSpPr>
        <p:spPr>
          <a:xfrm>
            <a:off x="713232" y="3858768"/>
            <a:ext cx="82296" cy="82296"/>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776472"/>
            <a:ext cx="4919472" cy="484632"/>
          </a:xfrm>
          <a:prstGeom prst="rect">
            <a:avLst/>
          </a:prstGeom>
          <a:noFill/>
        </p:spPr>
        <p:txBody>
          <a:bodyPr wrap="square" lIns="36576" tIns="36576" rIns="36576" bIns="36576" anchor="t">
            <a:spAutoFit/>
          </a:bodyPr>
          <a:lstStyle/>
          <a:p>
            <a:pPr algn="l">
              <a:spcAft>
                <a:spcPts val="500"/>
              </a:spcAft>
              <a:defRPr sz="1400" b="0">
                <a:solidFill>
                  <a:srgbClr val="F8FAFF"/>
                </a:solidFill>
                <a:latin typeface="Aptos"/>
              </a:defRPr>
            </a:pPr>
            <a:r>
              <a:t>Output: predicted attendee count and attendance rate</a:t>
            </a:r>
          </a:p>
        </p:txBody>
      </p:sp>
      <p:sp>
        <p:nvSpPr>
          <p:cNvPr id="19" name="Oval 18"/>
          <p:cNvSpPr/>
          <p:nvPr/>
        </p:nvSpPr>
        <p:spPr>
          <a:xfrm>
            <a:off x="713232" y="4361688"/>
            <a:ext cx="82296" cy="82296"/>
          </a:xfrm>
          <a:prstGeom prst="ellipse">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279392"/>
            <a:ext cx="4919472" cy="484632"/>
          </a:xfrm>
          <a:prstGeom prst="rect">
            <a:avLst/>
          </a:prstGeom>
          <a:noFill/>
        </p:spPr>
        <p:txBody>
          <a:bodyPr wrap="square" lIns="36576" tIns="36576" rIns="36576" bIns="36576" anchor="t">
            <a:spAutoFit/>
          </a:bodyPr>
          <a:lstStyle/>
          <a:p>
            <a:pPr algn="l">
              <a:spcAft>
                <a:spcPts val="500"/>
              </a:spcAft>
              <a:defRPr sz="1400" b="0">
                <a:solidFill>
                  <a:srgbClr val="F8FAFF"/>
                </a:solidFill>
                <a:latin typeface="Aptos"/>
              </a:defRPr>
            </a:pPr>
            <a:r>
              <a:t>Use forecasts to plan seating, food, staff, and logistics</a:t>
            </a:r>
          </a:p>
        </p:txBody>
      </p:sp>
      <p:sp>
        <p:nvSpPr>
          <p:cNvPr id="21" name="TextBox 20"/>
          <p:cNvSpPr txBox="1"/>
          <p:nvPr/>
        </p:nvSpPr>
        <p:spPr>
          <a:xfrm>
            <a:off x="6080760" y="1389888"/>
            <a:ext cx="5303520" cy="292608"/>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MODEL WORKFLOW</a:t>
            </a:r>
          </a:p>
        </p:txBody>
      </p:sp>
      <p:sp>
        <p:nvSpPr>
          <p:cNvPr id="22" name="Rounded Rectangle 21"/>
          <p:cNvSpPr/>
          <p:nvPr/>
        </p:nvSpPr>
        <p:spPr>
          <a:xfrm>
            <a:off x="5989320" y="2011680"/>
            <a:ext cx="960120" cy="868680"/>
          </a:xfrm>
          <a:prstGeom prst="roundRect">
            <a:avLst>
              <a:gd name="adj" fmla="val 12000"/>
            </a:avLst>
          </a:prstGeom>
          <a:solidFill>
            <a:srgbClr val="1C284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40" y="2176272"/>
            <a:ext cx="868680" cy="457200"/>
          </a:xfrm>
          <a:prstGeom prst="rect">
            <a:avLst/>
          </a:prstGeom>
          <a:noFill/>
        </p:spPr>
        <p:txBody>
          <a:bodyPr wrap="square" lIns="36576" tIns="36576" rIns="36576" bIns="36576" anchor="ctr">
            <a:spAutoFit/>
          </a:bodyPr>
          <a:lstStyle/>
          <a:p>
            <a:pPr algn="ctr">
              <a:spcAft>
                <a:spcPts val="500"/>
              </a:spcAft>
              <a:defRPr sz="1100" b="1">
                <a:solidFill>
                  <a:srgbClr val="F8FAFF"/>
                </a:solidFill>
                <a:latin typeface="Aptos"/>
              </a:defRPr>
            </a:pPr>
            <a:r>
              <a:t>Dataset</a:t>
            </a:r>
          </a:p>
        </p:txBody>
      </p:sp>
      <p:cxnSp>
        <p:nvCxnSpPr>
          <p:cNvPr id="24" name="Connector 23"/>
          <p:cNvCxnSpPr/>
          <p:nvPr/>
        </p:nvCxnSpPr>
        <p:spPr>
          <a:xfrm>
            <a:off x="6949440" y="2441448"/>
            <a:ext cx="155448" cy="0"/>
          </a:xfrm>
          <a:prstGeom prst="line">
            <a:avLst/>
          </a:prstGeom>
          <a:ln w="20320">
            <a:solidFill>
              <a:srgbClr val="36D3EB"/>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132320" y="2011680"/>
            <a:ext cx="960120" cy="868680"/>
          </a:xfrm>
          <a:prstGeom prst="roundRect">
            <a:avLst>
              <a:gd name="adj" fmla="val 12000"/>
            </a:avLst>
          </a:prstGeom>
          <a:solidFill>
            <a:srgbClr val="1C284C"/>
          </a:solidFill>
          <a:ln w="15240">
            <a:solidFill>
              <a:srgbClr val="36D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78040" y="2176272"/>
            <a:ext cx="868680" cy="457200"/>
          </a:xfrm>
          <a:prstGeom prst="rect">
            <a:avLst/>
          </a:prstGeom>
          <a:noFill/>
        </p:spPr>
        <p:txBody>
          <a:bodyPr wrap="square" lIns="36576" tIns="36576" rIns="36576" bIns="36576" anchor="ctr">
            <a:spAutoFit/>
          </a:bodyPr>
          <a:lstStyle/>
          <a:p>
            <a:pPr algn="ctr">
              <a:spcAft>
                <a:spcPts val="500"/>
              </a:spcAft>
              <a:defRPr sz="1100" b="1">
                <a:solidFill>
                  <a:srgbClr val="F8FAFF"/>
                </a:solidFill>
                <a:latin typeface="Aptos"/>
              </a:defRPr>
            </a:pPr>
            <a:r>
              <a:t>Clean /</a:t>
            </a:r>
          </a:p>
          <a:p>
            <a:pPr algn="ctr">
              <a:spcAft>
                <a:spcPts val="500"/>
              </a:spcAft>
              <a:defRPr sz="1100" b="1">
                <a:solidFill>
                  <a:srgbClr val="F8FAFF"/>
                </a:solidFill>
                <a:latin typeface="Aptos"/>
              </a:defRPr>
            </a:pPr>
            <a:r>
              <a:t>encode</a:t>
            </a:r>
          </a:p>
        </p:txBody>
      </p:sp>
      <p:cxnSp>
        <p:nvCxnSpPr>
          <p:cNvPr id="27" name="Connector 26"/>
          <p:cNvCxnSpPr/>
          <p:nvPr/>
        </p:nvCxnSpPr>
        <p:spPr>
          <a:xfrm>
            <a:off x="8092440" y="2441448"/>
            <a:ext cx="155448" cy="0"/>
          </a:xfrm>
          <a:prstGeom prst="line">
            <a:avLst/>
          </a:prstGeom>
          <a:ln w="20320">
            <a:solidFill>
              <a:srgbClr val="36D3E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275320" y="2011680"/>
            <a:ext cx="960120" cy="868680"/>
          </a:xfrm>
          <a:prstGeom prst="roundRect">
            <a:avLst>
              <a:gd name="adj" fmla="val 12000"/>
            </a:avLst>
          </a:prstGeom>
          <a:solidFill>
            <a:srgbClr val="1C284C"/>
          </a:solidFill>
          <a:ln w="15240">
            <a:solidFill>
              <a:srgbClr val="915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0" y="2176272"/>
            <a:ext cx="868680" cy="457200"/>
          </a:xfrm>
          <a:prstGeom prst="rect">
            <a:avLst/>
          </a:prstGeom>
          <a:noFill/>
        </p:spPr>
        <p:txBody>
          <a:bodyPr wrap="square" lIns="36576" tIns="36576" rIns="36576" bIns="36576" anchor="ctr">
            <a:spAutoFit/>
          </a:bodyPr>
          <a:lstStyle/>
          <a:p>
            <a:pPr algn="ctr">
              <a:spcAft>
                <a:spcPts val="500"/>
              </a:spcAft>
              <a:defRPr sz="1100" b="1">
                <a:solidFill>
                  <a:srgbClr val="F8FAFF"/>
                </a:solidFill>
                <a:latin typeface="Aptos"/>
              </a:defRPr>
            </a:pPr>
            <a:r>
              <a:t>Train</a:t>
            </a:r>
          </a:p>
        </p:txBody>
      </p:sp>
      <p:cxnSp>
        <p:nvCxnSpPr>
          <p:cNvPr id="30" name="Connector 29"/>
          <p:cNvCxnSpPr/>
          <p:nvPr/>
        </p:nvCxnSpPr>
        <p:spPr>
          <a:xfrm>
            <a:off x="9235440" y="2441448"/>
            <a:ext cx="155448" cy="0"/>
          </a:xfrm>
          <a:prstGeom prst="line">
            <a:avLst/>
          </a:prstGeom>
          <a:ln w="20320">
            <a:solidFill>
              <a:srgbClr val="36D3EB"/>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18320" y="2011680"/>
            <a:ext cx="960120" cy="868680"/>
          </a:xfrm>
          <a:prstGeom prst="roundRect">
            <a:avLst>
              <a:gd name="adj" fmla="val 12000"/>
            </a:avLst>
          </a:prstGeom>
          <a:solidFill>
            <a:srgbClr val="1C284C"/>
          </a:solidFill>
          <a:ln w="15240">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64040" y="2176272"/>
            <a:ext cx="868680" cy="457200"/>
          </a:xfrm>
          <a:prstGeom prst="rect">
            <a:avLst/>
          </a:prstGeom>
          <a:noFill/>
        </p:spPr>
        <p:txBody>
          <a:bodyPr wrap="square" lIns="36576" tIns="36576" rIns="36576" bIns="36576" anchor="ctr">
            <a:spAutoFit/>
          </a:bodyPr>
          <a:lstStyle/>
          <a:p>
            <a:pPr algn="ctr">
              <a:spcAft>
                <a:spcPts val="500"/>
              </a:spcAft>
              <a:defRPr sz="1100" b="1">
                <a:solidFill>
                  <a:srgbClr val="F8FAFF"/>
                </a:solidFill>
                <a:latin typeface="Aptos"/>
              </a:defRPr>
            </a:pPr>
            <a:r>
              <a:t>Test</a:t>
            </a:r>
          </a:p>
        </p:txBody>
      </p:sp>
      <p:cxnSp>
        <p:nvCxnSpPr>
          <p:cNvPr id="33" name="Connector 32"/>
          <p:cNvCxnSpPr/>
          <p:nvPr/>
        </p:nvCxnSpPr>
        <p:spPr>
          <a:xfrm>
            <a:off x="10378440" y="2441448"/>
            <a:ext cx="155448" cy="0"/>
          </a:xfrm>
          <a:prstGeom prst="line">
            <a:avLst/>
          </a:prstGeom>
          <a:ln w="20320">
            <a:solidFill>
              <a:srgbClr val="36D3EB"/>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561320" y="2011680"/>
            <a:ext cx="960120" cy="868680"/>
          </a:xfrm>
          <a:prstGeom prst="roundRect">
            <a:avLst>
              <a:gd name="adj" fmla="val 12000"/>
            </a:avLst>
          </a:prstGeom>
          <a:solidFill>
            <a:srgbClr val="1C284C"/>
          </a:solidFill>
          <a:ln w="15240">
            <a:solidFill>
              <a:srgbClr val="45D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607040" y="2176272"/>
            <a:ext cx="868680" cy="457200"/>
          </a:xfrm>
          <a:prstGeom prst="rect">
            <a:avLst/>
          </a:prstGeom>
          <a:noFill/>
        </p:spPr>
        <p:txBody>
          <a:bodyPr wrap="square" lIns="36576" tIns="36576" rIns="36576" bIns="36576" anchor="ctr">
            <a:spAutoFit/>
          </a:bodyPr>
          <a:lstStyle/>
          <a:p>
            <a:pPr algn="ctr">
              <a:spcAft>
                <a:spcPts val="500"/>
              </a:spcAft>
              <a:defRPr sz="1100" b="1">
                <a:solidFill>
                  <a:srgbClr val="F8FAFF"/>
                </a:solidFill>
                <a:latin typeface="Aptos"/>
              </a:defRPr>
            </a:pPr>
            <a:r>
              <a:t>Predict</a:t>
            </a:r>
          </a:p>
        </p:txBody>
      </p:sp>
      <p:sp>
        <p:nvSpPr>
          <p:cNvPr id="36" name="Rounded Rectangle 35"/>
          <p:cNvSpPr/>
          <p:nvPr/>
        </p:nvSpPr>
        <p:spPr>
          <a:xfrm>
            <a:off x="6053328" y="3337560"/>
            <a:ext cx="5349240" cy="155448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09360" y="3566160"/>
            <a:ext cx="4846320" cy="320040"/>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Evaluation required</a:t>
            </a:r>
          </a:p>
        </p:txBody>
      </p:sp>
      <p:sp>
        <p:nvSpPr>
          <p:cNvPr id="38" name="TextBox 37"/>
          <p:cNvSpPr txBox="1"/>
          <p:nvPr/>
        </p:nvSpPr>
        <p:spPr>
          <a:xfrm>
            <a:off x="6309360" y="3977639"/>
            <a:ext cx="4800600" cy="685800"/>
          </a:xfrm>
          <a:prstGeom prst="rect">
            <a:avLst/>
          </a:prstGeom>
          <a:noFill/>
        </p:spPr>
        <p:txBody>
          <a:bodyPr wrap="square" lIns="36576" tIns="36576" rIns="36576" bIns="36576" anchor="t">
            <a:spAutoFit/>
          </a:bodyPr>
          <a:lstStyle/>
          <a:p>
            <a:pPr algn="l">
              <a:spcAft>
                <a:spcPts val="500"/>
              </a:spcAft>
              <a:defRPr sz="1300" b="0">
                <a:solidFill>
                  <a:srgbClr val="B0BEDC"/>
                </a:solidFill>
                <a:latin typeface="Aptos"/>
              </a:defRPr>
            </a:pPr>
            <a:r>
              <a:t>MAE • RMSE • optionally R²</a:t>
            </a:r>
          </a:p>
          <a:p>
            <a:pPr algn="l">
              <a:spcAft>
                <a:spcPts val="500"/>
              </a:spcAft>
              <a:defRPr sz="1300" b="0">
                <a:solidFill>
                  <a:srgbClr val="B0BEDC"/>
                </a:solidFill>
                <a:latin typeface="Aptos"/>
              </a:defRPr>
            </a:pPr>
            <a:r>
              <a:t>Compare predictions with held-out actual attendance.</a:t>
            </a:r>
          </a:p>
        </p:txBody>
      </p:sp>
      <p:sp>
        <p:nvSpPr>
          <p:cNvPr id="39" name="Rounded Rectangle 38"/>
          <p:cNvSpPr/>
          <p:nvPr/>
        </p:nvSpPr>
        <p:spPr>
          <a:xfrm>
            <a:off x="6053328" y="5166360"/>
            <a:ext cx="5349240" cy="658368"/>
          </a:xfrm>
          <a:prstGeom prst="roundRect">
            <a:avLst>
              <a:gd name="adj" fmla="val 12000"/>
            </a:avLst>
          </a:prstGeom>
          <a:solidFill>
            <a:srgbClr val="1C284C"/>
          </a:solidFill>
          <a:ln w="15240">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17920" y="5321808"/>
            <a:ext cx="5029200" cy="320040"/>
          </a:xfrm>
          <a:prstGeom prst="rect">
            <a:avLst/>
          </a:prstGeom>
          <a:noFill/>
        </p:spPr>
        <p:txBody>
          <a:bodyPr wrap="square" lIns="36576" tIns="36576" rIns="36576" bIns="36576" anchor="t">
            <a:spAutoFit/>
          </a:bodyPr>
          <a:lstStyle/>
          <a:p>
            <a:pPr algn="ctr">
              <a:spcAft>
                <a:spcPts val="500"/>
              </a:spcAft>
              <a:defRPr sz="1100" b="1">
                <a:solidFill>
                  <a:srgbClr val="FFBE50"/>
                </a:solidFill>
                <a:latin typeface="Aptos"/>
              </a:defRPr>
            </a:pPr>
            <a:r>
              <a:t>No verified training metrics supplied — evaluation pending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06</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ML Module 2 — Personalized Recommendations</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Goal: rank upcoming events by relevance to each attendee</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6/10</a:t>
            </a:r>
          </a:p>
        </p:txBody>
      </p:sp>
      <p:sp>
        <p:nvSpPr>
          <p:cNvPr id="8" name="Rounded Rectangle 7"/>
          <p:cNvSpPr/>
          <p:nvPr/>
        </p:nvSpPr>
        <p:spPr>
          <a:xfrm>
            <a:off x="658368" y="1234440"/>
            <a:ext cx="1920240" cy="292608"/>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1248156"/>
            <a:ext cx="1847088"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PROPOSED TECHNIQUE</a:t>
            </a:r>
          </a:p>
        </p:txBody>
      </p:sp>
      <p:sp>
        <p:nvSpPr>
          <p:cNvPr id="10" name="Rounded Rectangle 9"/>
          <p:cNvSpPr/>
          <p:nvPr/>
        </p:nvSpPr>
        <p:spPr>
          <a:xfrm>
            <a:off x="685800" y="1828800"/>
            <a:ext cx="2103120" cy="960120"/>
          </a:xfrm>
          <a:prstGeom prst="roundRect">
            <a:avLst>
              <a:gd name="adj" fmla="val 12000"/>
            </a:avLst>
          </a:prstGeom>
          <a:solidFill>
            <a:srgbClr val="1C284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1993392"/>
            <a:ext cx="1883663"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User interests</a:t>
            </a:r>
          </a:p>
          <a:p>
            <a:pPr algn="ctr">
              <a:spcAft>
                <a:spcPts val="500"/>
              </a:spcAft>
              <a:defRPr sz="1300" b="1">
                <a:solidFill>
                  <a:srgbClr val="F8FAFF"/>
                </a:solidFill>
                <a:latin typeface="Aptos"/>
              </a:defRPr>
            </a:pPr>
            <a:r>
              <a:t>&amp; interactions</a:t>
            </a:r>
          </a:p>
        </p:txBody>
      </p:sp>
      <p:sp>
        <p:nvSpPr>
          <p:cNvPr id="12" name="Rounded Rectangle 11"/>
          <p:cNvSpPr/>
          <p:nvPr/>
        </p:nvSpPr>
        <p:spPr>
          <a:xfrm>
            <a:off x="3246120" y="1828800"/>
            <a:ext cx="2103120" cy="960120"/>
          </a:xfrm>
          <a:prstGeom prst="roundRect">
            <a:avLst>
              <a:gd name="adj" fmla="val 12000"/>
            </a:avLst>
          </a:prstGeom>
          <a:solidFill>
            <a:srgbClr val="1C284C"/>
          </a:solidFill>
          <a:ln w="15240">
            <a:solidFill>
              <a:srgbClr val="36D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55848" y="1993392"/>
            <a:ext cx="1883663"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Event categories,</a:t>
            </a:r>
          </a:p>
          <a:p>
            <a:pPr algn="ctr">
              <a:spcAft>
                <a:spcPts val="500"/>
              </a:spcAft>
              <a:defRPr sz="1300" b="1">
                <a:solidFill>
                  <a:srgbClr val="F8FAFF"/>
                </a:solidFill>
                <a:latin typeface="Aptos"/>
              </a:defRPr>
            </a:pPr>
            <a:r>
              <a:t>tags, descriptions</a:t>
            </a:r>
          </a:p>
        </p:txBody>
      </p:sp>
      <p:sp>
        <p:nvSpPr>
          <p:cNvPr id="14" name="Rounded Rectangle 13"/>
          <p:cNvSpPr/>
          <p:nvPr/>
        </p:nvSpPr>
        <p:spPr>
          <a:xfrm>
            <a:off x="5806440" y="1828800"/>
            <a:ext cx="2103120" cy="960120"/>
          </a:xfrm>
          <a:prstGeom prst="roundRect">
            <a:avLst>
              <a:gd name="adj" fmla="val 12000"/>
            </a:avLst>
          </a:prstGeom>
          <a:solidFill>
            <a:srgbClr val="1C284C"/>
          </a:solidFill>
          <a:ln w="15240">
            <a:solidFill>
              <a:srgbClr val="915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16168" y="1993392"/>
            <a:ext cx="1883663"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Feature matching</a:t>
            </a:r>
          </a:p>
          <a:p>
            <a:pPr algn="ctr">
              <a:spcAft>
                <a:spcPts val="500"/>
              </a:spcAft>
              <a:defRPr sz="1300" b="1">
                <a:solidFill>
                  <a:srgbClr val="F8FAFF"/>
                </a:solidFill>
                <a:latin typeface="Aptos"/>
              </a:defRPr>
            </a:pPr>
            <a:r>
              <a:t>&amp; similarity</a:t>
            </a:r>
          </a:p>
        </p:txBody>
      </p:sp>
      <p:sp>
        <p:nvSpPr>
          <p:cNvPr id="16" name="Rounded Rectangle 15"/>
          <p:cNvSpPr/>
          <p:nvPr/>
        </p:nvSpPr>
        <p:spPr>
          <a:xfrm>
            <a:off x="8366760" y="1828800"/>
            <a:ext cx="2560320" cy="960120"/>
          </a:xfrm>
          <a:prstGeom prst="roundRect">
            <a:avLst>
              <a:gd name="adj" fmla="val 12000"/>
            </a:avLst>
          </a:prstGeom>
          <a:solidFill>
            <a:srgbClr val="1C284C"/>
          </a:solidFill>
          <a:ln w="15240">
            <a:solidFill>
              <a:srgbClr val="45D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76488" y="1993392"/>
            <a:ext cx="2340863" cy="640080"/>
          </a:xfrm>
          <a:prstGeom prst="rect">
            <a:avLst/>
          </a:prstGeom>
          <a:noFill/>
        </p:spPr>
        <p:txBody>
          <a:bodyPr wrap="square" lIns="36576" tIns="36576" rIns="36576" bIns="36576" anchor="ctr">
            <a:spAutoFit/>
          </a:bodyPr>
          <a:lstStyle/>
          <a:p>
            <a:pPr algn="ctr">
              <a:spcAft>
                <a:spcPts val="500"/>
              </a:spcAft>
              <a:defRPr sz="1300" b="1">
                <a:solidFill>
                  <a:srgbClr val="F8FAFF"/>
                </a:solidFill>
                <a:latin typeface="Aptos"/>
              </a:defRPr>
            </a:pPr>
            <a:r>
              <a:t>Ranked event</a:t>
            </a:r>
          </a:p>
          <a:p>
            <a:pPr algn="ctr">
              <a:spcAft>
                <a:spcPts val="500"/>
              </a:spcAft>
              <a:defRPr sz="1300" b="1">
                <a:solidFill>
                  <a:srgbClr val="F8FAFF"/>
                </a:solidFill>
                <a:latin typeface="Aptos"/>
              </a:defRPr>
            </a:pPr>
            <a:r>
              <a:t>recommendations</a:t>
            </a:r>
          </a:p>
        </p:txBody>
      </p:sp>
      <p:cxnSp>
        <p:nvCxnSpPr>
          <p:cNvPr id="18" name="Connector 17"/>
          <p:cNvCxnSpPr/>
          <p:nvPr/>
        </p:nvCxnSpPr>
        <p:spPr>
          <a:xfrm>
            <a:off x="2788920" y="2313432"/>
            <a:ext cx="457200" cy="0"/>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49240" y="2313432"/>
            <a:ext cx="457200" cy="0"/>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09559" y="2313432"/>
            <a:ext cx="457201" cy="0"/>
          </a:xfrm>
          <a:prstGeom prst="line">
            <a:avLst/>
          </a:prstGeom>
          <a:ln w="25400">
            <a:solidFill>
              <a:srgbClr val="36D3E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5800" y="3337560"/>
            <a:ext cx="5257800" cy="160020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85800" y="3337560"/>
            <a:ext cx="64008" cy="1600200"/>
          </a:xfrm>
          <a:prstGeom prst="roundRect">
            <a:avLst>
              <a:gd name="adj" fmla="val 12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3483864"/>
            <a:ext cx="487375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How it can work</a:t>
            </a:r>
          </a:p>
        </p:txBody>
      </p:sp>
      <p:sp>
        <p:nvSpPr>
          <p:cNvPr id="24" name="TextBox 23"/>
          <p:cNvSpPr txBox="1"/>
          <p:nvPr/>
        </p:nvSpPr>
        <p:spPr>
          <a:xfrm>
            <a:off x="886968" y="3858768"/>
            <a:ext cx="4873752" cy="978407"/>
          </a:xfrm>
          <a:prstGeom prst="rect">
            <a:avLst/>
          </a:prstGeom>
          <a:noFill/>
        </p:spPr>
        <p:txBody>
          <a:bodyPr wrap="square" lIns="36576" tIns="36576" rIns="36576" bIns="36576" anchor="t">
            <a:spAutoFit/>
          </a:bodyPr>
          <a:lstStyle/>
          <a:p>
            <a:pPr algn="l">
              <a:spcAft>
                <a:spcPts val="500"/>
              </a:spcAft>
              <a:defRPr sz="1400" b="0">
                <a:solidFill>
                  <a:srgbClr val="B0BEDC"/>
                </a:solidFill>
                <a:latin typeface="Aptos"/>
              </a:defRPr>
            </a:pPr>
            <a:r>
              <a:t>Content-based filtering compares user preference features with event features, then ranks events by similarity.</a:t>
            </a:r>
          </a:p>
        </p:txBody>
      </p:sp>
      <p:sp>
        <p:nvSpPr>
          <p:cNvPr id="25" name="Rounded Rectangle 24"/>
          <p:cNvSpPr/>
          <p:nvPr/>
        </p:nvSpPr>
        <p:spPr>
          <a:xfrm>
            <a:off x="6217920" y="3337560"/>
            <a:ext cx="5257800" cy="160020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217920" y="3337560"/>
            <a:ext cx="64008" cy="1600200"/>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19088" y="3483864"/>
            <a:ext cx="487375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Cold-start fallback</a:t>
            </a:r>
          </a:p>
        </p:txBody>
      </p:sp>
      <p:sp>
        <p:nvSpPr>
          <p:cNvPr id="28" name="TextBox 27"/>
          <p:cNvSpPr txBox="1"/>
          <p:nvPr/>
        </p:nvSpPr>
        <p:spPr>
          <a:xfrm>
            <a:off x="6419088" y="3858768"/>
            <a:ext cx="4873752" cy="978407"/>
          </a:xfrm>
          <a:prstGeom prst="rect">
            <a:avLst/>
          </a:prstGeom>
          <a:noFill/>
        </p:spPr>
        <p:txBody>
          <a:bodyPr wrap="square" lIns="36576" tIns="36576" rIns="36576" bIns="36576" anchor="t">
            <a:spAutoFit/>
          </a:bodyPr>
          <a:lstStyle/>
          <a:p>
            <a:pPr algn="l">
              <a:spcAft>
                <a:spcPts val="500"/>
              </a:spcAft>
              <a:defRPr sz="1400" b="0">
                <a:solidFill>
                  <a:srgbClr val="B0BEDC"/>
                </a:solidFill>
                <a:latin typeface="Aptos"/>
              </a:defRPr>
            </a:pPr>
            <a:r>
              <a:t>For a new user, use popular, upcoming, or category-based events until enough preference data exists.</a:t>
            </a:r>
          </a:p>
        </p:txBody>
      </p:sp>
      <p:sp>
        <p:nvSpPr>
          <p:cNvPr id="29" name="Rounded Rectangle 28"/>
          <p:cNvSpPr/>
          <p:nvPr/>
        </p:nvSpPr>
        <p:spPr>
          <a:xfrm>
            <a:off x="685800" y="5349240"/>
            <a:ext cx="1828800" cy="292608"/>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376" y="5362955"/>
            <a:ext cx="1755648"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STATUS: VERIFY</a:t>
            </a:r>
          </a:p>
        </p:txBody>
      </p:sp>
      <p:sp>
        <p:nvSpPr>
          <p:cNvPr id="31" name="TextBox 30"/>
          <p:cNvSpPr txBox="1"/>
          <p:nvPr/>
        </p:nvSpPr>
        <p:spPr>
          <a:xfrm>
            <a:off x="2743200" y="5349240"/>
            <a:ext cx="8412480" cy="548640"/>
          </a:xfrm>
          <a:prstGeom prst="rect">
            <a:avLst/>
          </a:prstGeom>
          <a:noFill/>
        </p:spPr>
        <p:txBody>
          <a:bodyPr wrap="square" lIns="36576" tIns="36576" rIns="36576" bIns="36576" anchor="t">
            <a:spAutoFit/>
          </a:bodyPr>
          <a:lstStyle/>
          <a:p>
            <a:pPr algn="l">
              <a:spcAft>
                <a:spcPts val="500"/>
              </a:spcAft>
              <a:defRPr sz="1200" b="0">
                <a:solidFill>
                  <a:srgbClr val="B0BEDC"/>
                </a:solidFill>
                <a:latin typeface="Aptos"/>
              </a:defRPr>
            </a:pPr>
            <a:r>
              <a:t>Do not label this as an implemented ML engine until recommendation logic and data flow are confirmed in source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07</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ML Modules 3 &amp; 4 — Risk and Demand</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Three different questions: who may not attend, and how demand may change?</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7/10</a:t>
            </a:r>
          </a:p>
        </p:txBody>
      </p:sp>
      <p:sp>
        <p:nvSpPr>
          <p:cNvPr id="8" name="Rounded Rectangle 7"/>
          <p:cNvSpPr/>
          <p:nvPr/>
        </p:nvSpPr>
        <p:spPr>
          <a:xfrm>
            <a:off x="594360" y="1371600"/>
            <a:ext cx="5394960" cy="342900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371600"/>
            <a:ext cx="64008" cy="3429000"/>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517904"/>
            <a:ext cx="501091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03  No-show prediction</a:t>
            </a:r>
          </a:p>
        </p:txBody>
      </p:sp>
      <p:sp>
        <p:nvSpPr>
          <p:cNvPr id="11" name="Rounded Rectangle 10"/>
          <p:cNvSpPr/>
          <p:nvPr/>
        </p:nvSpPr>
        <p:spPr>
          <a:xfrm>
            <a:off x="4663440" y="1499616"/>
            <a:ext cx="1115568" cy="292608"/>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0016" y="1513332"/>
            <a:ext cx="1042415"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PROPOSED</a:t>
            </a:r>
          </a:p>
        </p:txBody>
      </p:sp>
      <p:sp>
        <p:nvSpPr>
          <p:cNvPr id="13" name="TextBox 12"/>
          <p:cNvSpPr txBox="1"/>
          <p:nvPr/>
        </p:nvSpPr>
        <p:spPr>
          <a:xfrm>
            <a:off x="795528" y="1892807"/>
            <a:ext cx="5010912" cy="2807208"/>
          </a:xfrm>
          <a:prstGeom prst="rect">
            <a:avLst/>
          </a:prstGeom>
          <a:noFill/>
        </p:spPr>
        <p:txBody>
          <a:bodyPr wrap="square" lIns="36576" tIns="36576" rIns="36576" bIns="36576" anchor="t">
            <a:spAutoFit/>
          </a:bodyPr>
          <a:lstStyle/>
          <a:p>
            <a:pPr algn="l">
              <a:spcAft>
                <a:spcPts val="500"/>
              </a:spcAft>
              <a:defRPr sz="1400" b="0">
                <a:solidFill>
                  <a:srgbClr val="B0BEDC"/>
                </a:solidFill>
                <a:latin typeface="Aptos"/>
              </a:defRPr>
            </a:pPr>
            <a:r>
              <a:t>TYPE  Classification</a:t>
            </a:r>
          </a:p>
          <a:p>
            <a:pPr algn="l">
              <a:spcAft>
                <a:spcPts val="500"/>
              </a:spcAft>
              <a:defRPr sz="1400" b="0">
                <a:solidFill>
                  <a:srgbClr val="B0BEDC"/>
                </a:solidFill>
                <a:latin typeface="Aptos"/>
              </a:defRPr>
            </a:pPr>
            <a:r>
              <a:t>PROPOSED MODEL  Random Forest Classifier</a:t>
            </a:r>
          </a:p>
          <a:p>
            <a:pPr algn="l">
              <a:spcAft>
                <a:spcPts val="500"/>
              </a:spcAft>
              <a:defRPr sz="1400" b="0">
                <a:solidFill>
                  <a:srgbClr val="B0BEDC"/>
                </a:solidFill>
                <a:latin typeface="Aptos"/>
              </a:defRPr>
            </a:pPr>
            <a:r>
              <a:t>INPUTS  Lead time, event category, RSVP, suitable history</a:t>
            </a:r>
          </a:p>
          <a:p>
            <a:pPr algn="l">
              <a:spcAft>
                <a:spcPts val="500"/>
              </a:spcAft>
              <a:defRPr sz="1400" b="0">
                <a:solidFill>
                  <a:srgbClr val="B0BEDC"/>
                </a:solidFill>
                <a:latin typeface="Aptos"/>
              </a:defRPr>
            </a:pPr>
            <a:r>
              <a:t>OUTPUT  No-show probability / risk band</a:t>
            </a:r>
          </a:p>
          <a:p>
            <a:pPr algn="l">
              <a:spcAft>
                <a:spcPts val="500"/>
              </a:spcAft>
              <a:defRPr sz="1400" b="0">
                <a:solidFill>
                  <a:srgbClr val="B0BEDC"/>
                </a:solidFill>
                <a:latin typeface="Aptos"/>
              </a:defRPr>
            </a:pPr>
            <a:r>
              <a:t>USE  Target reminders and improve aggregate planning</a:t>
            </a:r>
          </a:p>
        </p:txBody>
      </p:sp>
      <p:sp>
        <p:nvSpPr>
          <p:cNvPr id="14" name="Rounded Rectangle 13"/>
          <p:cNvSpPr/>
          <p:nvPr/>
        </p:nvSpPr>
        <p:spPr>
          <a:xfrm>
            <a:off x="6217920" y="1371600"/>
            <a:ext cx="5394960" cy="342900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17920" y="1371600"/>
            <a:ext cx="64008" cy="3429000"/>
          </a:xfrm>
          <a:prstGeom prst="roundRect">
            <a:avLst>
              <a:gd name="adj" fmla="val 12000"/>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1517904"/>
            <a:ext cx="501091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04  Event demand forecasting</a:t>
            </a:r>
          </a:p>
        </p:txBody>
      </p:sp>
      <p:sp>
        <p:nvSpPr>
          <p:cNvPr id="17" name="Rounded Rectangle 16"/>
          <p:cNvSpPr/>
          <p:nvPr/>
        </p:nvSpPr>
        <p:spPr>
          <a:xfrm>
            <a:off x="10287000" y="1499616"/>
            <a:ext cx="1115568" cy="292608"/>
          </a:xfrm>
          <a:prstGeom prst="roundRect">
            <a:avLst>
              <a:gd name="adj" fmla="val 12000"/>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323576" y="1513332"/>
            <a:ext cx="1042415"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PROPOSED</a:t>
            </a:r>
          </a:p>
        </p:txBody>
      </p:sp>
      <p:sp>
        <p:nvSpPr>
          <p:cNvPr id="19" name="TextBox 18"/>
          <p:cNvSpPr txBox="1"/>
          <p:nvPr/>
        </p:nvSpPr>
        <p:spPr>
          <a:xfrm>
            <a:off x="6419088" y="1892807"/>
            <a:ext cx="5010912" cy="2807208"/>
          </a:xfrm>
          <a:prstGeom prst="rect">
            <a:avLst/>
          </a:prstGeom>
          <a:noFill/>
        </p:spPr>
        <p:txBody>
          <a:bodyPr wrap="square" lIns="36576" tIns="36576" rIns="36576" bIns="36576" anchor="t">
            <a:spAutoFit/>
          </a:bodyPr>
          <a:lstStyle/>
          <a:p>
            <a:pPr algn="l">
              <a:spcAft>
                <a:spcPts val="500"/>
              </a:spcAft>
              <a:defRPr sz="1400" b="0">
                <a:solidFill>
                  <a:srgbClr val="B0BEDC"/>
                </a:solidFill>
                <a:latin typeface="Aptos"/>
              </a:defRPr>
            </a:pPr>
            <a:r>
              <a:t>TYPE  Regression / time series</a:t>
            </a:r>
          </a:p>
          <a:p>
            <a:pPr algn="l">
              <a:spcAft>
                <a:spcPts val="500"/>
              </a:spcAft>
              <a:defRPr sz="1400" b="0">
                <a:solidFill>
                  <a:srgbClr val="B0BEDC"/>
                </a:solidFill>
                <a:latin typeface="Aptos"/>
              </a:defRPr>
            </a:pPr>
            <a:r>
              <a:t>PROPOSED APPROACH  Regression or time-series model</a:t>
            </a:r>
          </a:p>
          <a:p>
            <a:pPr algn="l">
              <a:spcAft>
                <a:spcPts val="500"/>
              </a:spcAft>
              <a:defRPr sz="1400" b="0">
                <a:solidFill>
                  <a:srgbClr val="B0BEDC"/>
                </a:solidFill>
                <a:latin typeface="Aptos"/>
              </a:defRPr>
            </a:pPr>
            <a:r>
              <a:t>INPUTS  Historical registrations, current trend, time remaining</a:t>
            </a:r>
          </a:p>
          <a:p>
            <a:pPr algn="l">
              <a:spcAft>
                <a:spcPts val="500"/>
              </a:spcAft>
              <a:defRPr sz="1400" b="0">
                <a:solidFill>
                  <a:srgbClr val="B0BEDC"/>
                </a:solidFill>
                <a:latin typeface="Aptos"/>
              </a:defRPr>
            </a:pPr>
            <a:r>
              <a:t>OUTPUT  Future registration counts and capacity warnings</a:t>
            </a:r>
          </a:p>
          <a:p>
            <a:pPr algn="l">
              <a:spcAft>
                <a:spcPts val="500"/>
              </a:spcAft>
              <a:defRPr sz="1400" b="0">
                <a:solidFill>
                  <a:srgbClr val="B0BEDC"/>
                </a:solidFill>
                <a:latin typeface="Aptos"/>
              </a:defRPr>
            </a:pPr>
            <a:r>
              <a:t>USE  Adjust promotion and resource plans</a:t>
            </a:r>
          </a:p>
        </p:txBody>
      </p:sp>
      <p:sp>
        <p:nvSpPr>
          <p:cNvPr id="20" name="Rounded Rectangle 19"/>
          <p:cNvSpPr/>
          <p:nvPr/>
        </p:nvSpPr>
        <p:spPr>
          <a:xfrm>
            <a:off x="685800" y="5074920"/>
            <a:ext cx="3520440" cy="82296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5230368"/>
            <a:ext cx="3246120" cy="502920"/>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Attendance prediction</a:t>
            </a:r>
          </a:p>
          <a:p>
            <a:pPr algn="ctr">
              <a:spcAft>
                <a:spcPts val="500"/>
              </a:spcAft>
              <a:defRPr sz="1200" b="1">
                <a:solidFill>
                  <a:srgbClr val="F8FAFF"/>
                </a:solidFill>
                <a:latin typeface="Aptos"/>
              </a:defRPr>
            </a:pPr>
            <a:r>
              <a:t>Expected attendees</a:t>
            </a:r>
          </a:p>
        </p:txBody>
      </p:sp>
      <p:sp>
        <p:nvSpPr>
          <p:cNvPr id="22" name="Rounded Rectangle 21"/>
          <p:cNvSpPr/>
          <p:nvPr/>
        </p:nvSpPr>
        <p:spPr>
          <a:xfrm>
            <a:off x="4343400" y="5074920"/>
            <a:ext cx="3520440" cy="82296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80560" y="5230368"/>
            <a:ext cx="3246120" cy="502920"/>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No-show prediction</a:t>
            </a:r>
          </a:p>
          <a:p>
            <a:pPr algn="ctr">
              <a:spcAft>
                <a:spcPts val="500"/>
              </a:spcAft>
              <a:defRPr sz="1200" b="1">
                <a:solidFill>
                  <a:srgbClr val="F8FAFF"/>
                </a:solidFill>
                <a:latin typeface="Aptos"/>
              </a:defRPr>
            </a:pPr>
            <a:r>
              <a:t>Individual / cohort risk</a:t>
            </a:r>
          </a:p>
        </p:txBody>
      </p:sp>
      <p:sp>
        <p:nvSpPr>
          <p:cNvPr id="24" name="Rounded Rectangle 23"/>
          <p:cNvSpPr/>
          <p:nvPr/>
        </p:nvSpPr>
        <p:spPr>
          <a:xfrm>
            <a:off x="8001000" y="5074920"/>
            <a:ext cx="3520440" cy="822960"/>
          </a:xfrm>
          <a:prstGeom prst="roundRect">
            <a:avLst>
              <a:gd name="adj" fmla="val 12000"/>
            </a:avLst>
          </a:prstGeom>
          <a:solidFill>
            <a:srgbClr val="23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38160" y="5230368"/>
            <a:ext cx="3246120" cy="502920"/>
          </a:xfrm>
          <a:prstGeom prst="rect">
            <a:avLst/>
          </a:prstGeom>
          <a:noFill/>
        </p:spPr>
        <p:txBody>
          <a:bodyPr wrap="square" lIns="36576" tIns="36576" rIns="36576" bIns="36576" anchor="t">
            <a:spAutoFit/>
          </a:bodyPr>
          <a:lstStyle/>
          <a:p>
            <a:pPr algn="ctr">
              <a:spcAft>
                <a:spcPts val="500"/>
              </a:spcAft>
              <a:defRPr sz="1200" b="1">
                <a:solidFill>
                  <a:srgbClr val="F8FAFF"/>
                </a:solidFill>
                <a:latin typeface="Aptos"/>
              </a:defRPr>
            </a:pPr>
            <a:r>
              <a:t>Demand forecasting</a:t>
            </a:r>
          </a:p>
          <a:p>
            <a:pPr algn="ctr">
              <a:spcAft>
                <a:spcPts val="500"/>
              </a:spcAft>
              <a:defRPr sz="1200" b="1">
                <a:solidFill>
                  <a:srgbClr val="F8FAFF"/>
                </a:solidFill>
                <a:latin typeface="Aptos"/>
              </a:defRPr>
            </a:pPr>
            <a:r>
              <a:t>Future registrations</a:t>
            </a:r>
          </a:p>
        </p:txBody>
      </p:sp>
      <p:sp>
        <p:nvSpPr>
          <p:cNvPr id="26" name="TextBox 25"/>
          <p:cNvSpPr txBox="1"/>
          <p:nvPr/>
        </p:nvSpPr>
        <p:spPr>
          <a:xfrm>
            <a:off x="713232" y="6016752"/>
            <a:ext cx="10789920" cy="256032"/>
          </a:xfrm>
          <a:prstGeom prst="rect">
            <a:avLst/>
          </a:prstGeom>
          <a:noFill/>
        </p:spPr>
        <p:txBody>
          <a:bodyPr wrap="square" lIns="36576" tIns="36576" rIns="36576" bIns="36576" anchor="t">
            <a:spAutoFit/>
          </a:bodyPr>
          <a:lstStyle/>
          <a:p>
            <a:pPr algn="l">
              <a:spcAft>
                <a:spcPts val="500"/>
              </a:spcAft>
              <a:defRPr sz="1000" b="1">
                <a:solidFill>
                  <a:srgbClr val="FFBE50"/>
                </a:solidFill>
                <a:latin typeface="Aptos"/>
              </a:defRPr>
            </a:pPr>
            <a:r>
              <a:t>All four ML modules require source-code verification and evaluation before being presented as working 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08</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Data Model, Real-Time Operations &amp; Stack</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Example entities and events to support the end-to-end workflow</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8/10</a:t>
            </a:r>
          </a:p>
        </p:txBody>
      </p:sp>
      <p:sp>
        <p:nvSpPr>
          <p:cNvPr id="8" name="Rounded Rectangle 7"/>
          <p:cNvSpPr/>
          <p:nvPr/>
        </p:nvSpPr>
        <p:spPr>
          <a:xfrm>
            <a:off x="640080" y="1417320"/>
            <a:ext cx="1828800" cy="777240"/>
          </a:xfrm>
          <a:prstGeom prst="roundRect">
            <a:avLst>
              <a:gd name="adj" fmla="val 12000"/>
            </a:avLst>
          </a:prstGeom>
          <a:solidFill>
            <a:srgbClr val="1C284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600200"/>
            <a:ext cx="1737360" cy="365760"/>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USERS</a:t>
            </a:r>
          </a:p>
        </p:txBody>
      </p:sp>
      <p:sp>
        <p:nvSpPr>
          <p:cNvPr id="10" name="Rounded Rectangle 9"/>
          <p:cNvSpPr/>
          <p:nvPr/>
        </p:nvSpPr>
        <p:spPr>
          <a:xfrm>
            <a:off x="2971800" y="1417320"/>
            <a:ext cx="1828800" cy="777240"/>
          </a:xfrm>
          <a:prstGeom prst="roundRect">
            <a:avLst>
              <a:gd name="adj" fmla="val 12000"/>
            </a:avLst>
          </a:prstGeom>
          <a:solidFill>
            <a:srgbClr val="1C284C"/>
          </a:solidFill>
          <a:ln w="15240">
            <a:solidFill>
              <a:srgbClr val="36D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0" y="1600200"/>
            <a:ext cx="1737360" cy="365760"/>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EVENTS</a:t>
            </a:r>
          </a:p>
        </p:txBody>
      </p:sp>
      <p:sp>
        <p:nvSpPr>
          <p:cNvPr id="12" name="Rounded Rectangle 11"/>
          <p:cNvSpPr/>
          <p:nvPr/>
        </p:nvSpPr>
        <p:spPr>
          <a:xfrm>
            <a:off x="5303520" y="1417320"/>
            <a:ext cx="1828800" cy="777240"/>
          </a:xfrm>
          <a:prstGeom prst="roundRect">
            <a:avLst>
              <a:gd name="adj" fmla="val 12000"/>
            </a:avLst>
          </a:prstGeom>
          <a:solidFill>
            <a:srgbClr val="1C284C"/>
          </a:solidFill>
          <a:ln w="15240">
            <a:solidFill>
              <a:srgbClr val="915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49240" y="1600200"/>
            <a:ext cx="1737360" cy="365760"/>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REGISTRATIONS</a:t>
            </a:r>
          </a:p>
        </p:txBody>
      </p:sp>
      <p:sp>
        <p:nvSpPr>
          <p:cNvPr id="14" name="Rounded Rectangle 13"/>
          <p:cNvSpPr/>
          <p:nvPr/>
        </p:nvSpPr>
        <p:spPr>
          <a:xfrm>
            <a:off x="7635240" y="1417320"/>
            <a:ext cx="1828800" cy="777240"/>
          </a:xfrm>
          <a:prstGeom prst="roundRect">
            <a:avLst>
              <a:gd name="adj" fmla="val 12000"/>
            </a:avLst>
          </a:prstGeom>
          <a:solidFill>
            <a:srgbClr val="1C284C"/>
          </a:solidFill>
          <a:ln w="15240">
            <a:solidFill>
              <a:srgbClr val="45D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0960" y="1600200"/>
            <a:ext cx="1737360" cy="365760"/>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TICKETS</a:t>
            </a:r>
          </a:p>
        </p:txBody>
      </p:sp>
      <p:sp>
        <p:nvSpPr>
          <p:cNvPr id="16" name="Rounded Rectangle 15"/>
          <p:cNvSpPr/>
          <p:nvPr/>
        </p:nvSpPr>
        <p:spPr>
          <a:xfrm>
            <a:off x="9646920" y="2743200"/>
            <a:ext cx="1828800" cy="777240"/>
          </a:xfrm>
          <a:prstGeom prst="roundRect">
            <a:avLst>
              <a:gd name="adj" fmla="val 12000"/>
            </a:avLst>
          </a:prstGeom>
          <a:solidFill>
            <a:srgbClr val="1C284C"/>
          </a:solidFill>
          <a:ln w="15240">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92640" y="2926080"/>
            <a:ext cx="1737360" cy="365760"/>
          </a:xfrm>
          <a:prstGeom prst="rect">
            <a:avLst/>
          </a:prstGeom>
          <a:noFill/>
        </p:spPr>
        <p:txBody>
          <a:bodyPr wrap="square" lIns="36576" tIns="36576" rIns="36576" bIns="36576" anchor="ctr">
            <a:spAutoFit/>
          </a:bodyPr>
          <a:lstStyle/>
          <a:p>
            <a:pPr algn="ctr">
              <a:spcAft>
                <a:spcPts val="500"/>
              </a:spcAft>
              <a:defRPr sz="1200" b="1">
                <a:solidFill>
                  <a:srgbClr val="F8FAFF"/>
                </a:solidFill>
                <a:latin typeface="Aptos"/>
              </a:defRPr>
            </a:pPr>
            <a:r>
              <a:t>CHECK-INS</a:t>
            </a:r>
          </a:p>
        </p:txBody>
      </p:sp>
      <p:cxnSp>
        <p:nvCxnSpPr>
          <p:cNvPr id="18" name="Connector 17"/>
          <p:cNvCxnSpPr/>
          <p:nvPr/>
        </p:nvCxnSpPr>
        <p:spPr>
          <a:xfrm>
            <a:off x="2468880" y="1810512"/>
            <a:ext cx="502920" cy="0"/>
          </a:xfrm>
          <a:prstGeom prst="line">
            <a:avLst/>
          </a:prstGeom>
          <a:ln w="20320">
            <a:solidFill>
              <a:srgbClr val="4285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800600" y="1810512"/>
            <a:ext cx="502920" cy="0"/>
          </a:xfrm>
          <a:prstGeom prst="line">
            <a:avLst/>
          </a:prstGeom>
          <a:ln w="20320">
            <a:solidFill>
              <a:srgbClr val="36D3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132320" y="1810512"/>
            <a:ext cx="502920" cy="0"/>
          </a:xfrm>
          <a:prstGeom prst="line">
            <a:avLst/>
          </a:prstGeom>
          <a:ln w="20320">
            <a:solidFill>
              <a:srgbClr val="915E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595360" y="2194560"/>
            <a:ext cx="1737360" cy="548640"/>
          </a:xfrm>
          <a:prstGeom prst="line">
            <a:avLst/>
          </a:prstGeom>
          <a:ln w="20320">
            <a:solidFill>
              <a:srgbClr val="45D2A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2514600"/>
            <a:ext cx="8138160" cy="256032"/>
          </a:xfrm>
          <a:prstGeom prst="rect">
            <a:avLst/>
          </a:prstGeom>
          <a:noFill/>
        </p:spPr>
        <p:txBody>
          <a:bodyPr wrap="square" lIns="36576" tIns="36576" rIns="36576" bIns="36576" anchor="t">
            <a:spAutoFit/>
          </a:bodyPr>
          <a:lstStyle/>
          <a:p>
            <a:pPr algn="l">
              <a:spcAft>
                <a:spcPts val="500"/>
              </a:spcAft>
              <a:defRPr sz="1000" b="0">
                <a:solidFill>
                  <a:srgbClr val="B0BEDC"/>
                </a:solidFill>
                <a:latin typeface="Aptos"/>
              </a:defRPr>
            </a:pPr>
            <a:r>
              <a:t>Possible supporting tables: user_preferences • notifications • prediction_history • model_versions</a:t>
            </a:r>
          </a:p>
        </p:txBody>
      </p:sp>
      <p:sp>
        <p:nvSpPr>
          <p:cNvPr id="23" name="Rounded Rectangle 22"/>
          <p:cNvSpPr/>
          <p:nvPr/>
        </p:nvSpPr>
        <p:spPr>
          <a:xfrm>
            <a:off x="658368" y="3337560"/>
            <a:ext cx="5257800" cy="160020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58368" y="3337560"/>
            <a:ext cx="64008" cy="1600200"/>
          </a:xfrm>
          <a:prstGeom prst="roundRect">
            <a:avLst>
              <a:gd name="adj" fmla="val 12000"/>
            </a:avLst>
          </a:prstGeom>
          <a:solidFill>
            <a:srgbClr val="45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9536" y="3483864"/>
            <a:ext cx="487375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Real-time operations</a:t>
            </a:r>
          </a:p>
        </p:txBody>
      </p:sp>
      <p:sp>
        <p:nvSpPr>
          <p:cNvPr id="26" name="TextBox 25"/>
          <p:cNvSpPr txBox="1"/>
          <p:nvPr/>
        </p:nvSpPr>
        <p:spPr>
          <a:xfrm>
            <a:off x="859536" y="3858768"/>
            <a:ext cx="4873752" cy="978407"/>
          </a:xfrm>
          <a:prstGeom prst="rect">
            <a:avLst/>
          </a:prstGeom>
          <a:noFill/>
        </p:spPr>
        <p:txBody>
          <a:bodyPr wrap="square" lIns="36576" tIns="36576" rIns="36576" bIns="36576" anchor="t">
            <a:spAutoFit/>
          </a:bodyPr>
          <a:lstStyle/>
          <a:p>
            <a:pPr algn="l">
              <a:spcAft>
                <a:spcPts val="500"/>
              </a:spcAft>
              <a:defRPr sz="1400" b="0">
                <a:solidFill>
                  <a:srgbClr val="B0BEDC"/>
                </a:solidFill>
                <a:latin typeface="Aptos"/>
              </a:defRPr>
            </a:pPr>
            <a:r>
              <a:t>Registration counters • seat availability • QR check-ins</a:t>
            </a:r>
          </a:p>
          <a:p>
            <a:pPr algn="l">
              <a:spcAft>
                <a:spcPts val="500"/>
              </a:spcAft>
              <a:defRPr sz="1400" b="0">
                <a:solidFill>
                  <a:srgbClr val="B0BEDC"/>
                </a:solidFill>
                <a:latin typeface="Aptos"/>
              </a:defRPr>
            </a:pPr>
            <a:r>
              <a:t>Live status • capacity alerts via a real-time channel</a:t>
            </a:r>
          </a:p>
        </p:txBody>
      </p:sp>
      <p:sp>
        <p:nvSpPr>
          <p:cNvPr id="27" name="Rounded Rectangle 26"/>
          <p:cNvSpPr/>
          <p:nvPr/>
        </p:nvSpPr>
        <p:spPr>
          <a:xfrm>
            <a:off x="6199632" y="3337560"/>
            <a:ext cx="5257800" cy="160020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99632" y="3337560"/>
            <a:ext cx="64008" cy="1600200"/>
          </a:xfrm>
          <a:prstGeom prst="roundRect">
            <a:avLst>
              <a:gd name="adj" fmla="val 12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3483864"/>
            <a:ext cx="487375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Technology stack in the brief</a:t>
            </a:r>
          </a:p>
        </p:txBody>
      </p:sp>
      <p:sp>
        <p:nvSpPr>
          <p:cNvPr id="30" name="TextBox 29"/>
          <p:cNvSpPr txBox="1"/>
          <p:nvPr/>
        </p:nvSpPr>
        <p:spPr>
          <a:xfrm>
            <a:off x="6400800" y="3858768"/>
            <a:ext cx="4873752" cy="978407"/>
          </a:xfrm>
          <a:prstGeom prst="rect">
            <a:avLst/>
          </a:prstGeom>
          <a:noFill/>
        </p:spPr>
        <p:txBody>
          <a:bodyPr wrap="square" lIns="36576" tIns="36576" rIns="36576" bIns="36576" anchor="t">
            <a:spAutoFit/>
          </a:bodyPr>
          <a:lstStyle/>
          <a:p>
            <a:pPr algn="l">
              <a:spcAft>
                <a:spcPts val="500"/>
              </a:spcAft>
              <a:defRPr sz="1300" b="0">
                <a:solidFill>
                  <a:srgbClr val="B0BEDC"/>
                </a:solidFill>
                <a:latin typeface="Aptos"/>
              </a:defRPr>
            </a:pPr>
            <a:r>
              <a:t>React / Vite / TypeScript / Tailwind • Node / Express</a:t>
            </a:r>
          </a:p>
          <a:p>
            <a:pPr algn="l">
              <a:spcAft>
                <a:spcPts val="500"/>
              </a:spcAft>
              <a:defRPr sz="1300" b="0">
                <a:solidFill>
                  <a:srgbClr val="B0BEDC"/>
                </a:solidFill>
                <a:latin typeface="Aptos"/>
              </a:defRPr>
            </a:pPr>
            <a:r>
              <a:t>PostgreSQL • Socket.IO • Python / FastAPI / scikit-learn</a:t>
            </a:r>
          </a:p>
          <a:p>
            <a:pPr algn="l">
              <a:spcAft>
                <a:spcPts val="500"/>
              </a:spcAft>
              <a:defRPr sz="1300" b="0">
                <a:solidFill>
                  <a:srgbClr val="B0BEDC"/>
                </a:solidFill>
                <a:latin typeface="Aptos"/>
              </a:defRPr>
            </a:pPr>
            <a:r>
              <a:t>Recharts for visual analytics</a:t>
            </a:r>
          </a:p>
        </p:txBody>
      </p:sp>
      <p:sp>
        <p:nvSpPr>
          <p:cNvPr id="31" name="Rounded Rectangle 30"/>
          <p:cNvSpPr/>
          <p:nvPr/>
        </p:nvSpPr>
        <p:spPr>
          <a:xfrm>
            <a:off x="685800" y="5349240"/>
            <a:ext cx="1828800" cy="292608"/>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 y="5362955"/>
            <a:ext cx="1755648" cy="237744"/>
          </a:xfrm>
          <a:prstGeom prst="rect">
            <a:avLst/>
          </a:prstGeom>
          <a:noFill/>
        </p:spPr>
        <p:txBody>
          <a:bodyPr wrap="square" lIns="0" tIns="0" rIns="0" bIns="0" anchor="ctr">
            <a:spAutoFit/>
          </a:bodyPr>
          <a:lstStyle/>
          <a:p>
            <a:pPr algn="ctr">
              <a:spcAft>
                <a:spcPts val="500"/>
              </a:spcAft>
              <a:defRPr sz="1000" b="1">
                <a:solidFill>
                  <a:srgbClr val="F8FAFF"/>
                </a:solidFill>
                <a:latin typeface="Aptos"/>
              </a:defRPr>
            </a:pPr>
            <a:r>
              <a:t>SCHEMA: EXAMPLE</a:t>
            </a:r>
          </a:p>
        </p:txBody>
      </p:sp>
      <p:sp>
        <p:nvSpPr>
          <p:cNvPr id="33" name="TextBox 32"/>
          <p:cNvSpPr txBox="1"/>
          <p:nvPr/>
        </p:nvSpPr>
        <p:spPr>
          <a:xfrm>
            <a:off x="2743200" y="5349240"/>
            <a:ext cx="8595360" cy="502920"/>
          </a:xfrm>
          <a:prstGeom prst="rect">
            <a:avLst/>
          </a:prstGeom>
          <a:noFill/>
        </p:spPr>
        <p:txBody>
          <a:bodyPr wrap="square" lIns="36576" tIns="36576" rIns="36576" bIns="36576" anchor="t">
            <a:spAutoFit/>
          </a:bodyPr>
          <a:lstStyle/>
          <a:p>
            <a:pPr algn="l">
              <a:spcAft>
                <a:spcPts val="500"/>
              </a:spcAft>
              <a:defRPr sz="1200" b="0">
                <a:solidFill>
                  <a:srgbClr val="B0BEDC"/>
                </a:solidFill>
                <a:latin typeface="Aptos"/>
              </a:defRPr>
            </a:pPr>
            <a:r>
              <a:t>Entity diagram is conceptual; confirm actual tables, keys, APIs, and event handlers in the repository.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09</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Results, Evaluation &amp; Demo Plan</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Report measured results only after a reproducible test</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9/10</a:t>
            </a:r>
          </a:p>
        </p:txBody>
      </p:sp>
      <p:sp>
        <p:nvSpPr>
          <p:cNvPr id="8" name="Rounded Rectangle 7"/>
          <p:cNvSpPr/>
          <p:nvPr/>
        </p:nvSpPr>
        <p:spPr>
          <a:xfrm>
            <a:off x="594360" y="1298448"/>
            <a:ext cx="5166360" cy="452628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298448"/>
            <a:ext cx="64008" cy="4526280"/>
          </a:xfrm>
          <a:prstGeom prst="roundRect">
            <a:avLst>
              <a:gd name="adj" fmla="val 12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444751"/>
            <a:ext cx="478231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Website demonstration sequence</a:t>
            </a:r>
          </a:p>
        </p:txBody>
      </p:sp>
      <p:sp>
        <p:nvSpPr>
          <p:cNvPr id="11" name="TextBox 10"/>
          <p:cNvSpPr txBox="1"/>
          <p:nvPr/>
        </p:nvSpPr>
        <p:spPr>
          <a:xfrm>
            <a:off x="795528" y="1819655"/>
            <a:ext cx="4782312" cy="3904488"/>
          </a:xfrm>
          <a:prstGeom prst="rect">
            <a:avLst/>
          </a:prstGeom>
          <a:noFill/>
        </p:spPr>
        <p:txBody>
          <a:bodyPr wrap="square" lIns="36576" tIns="36576" rIns="36576" bIns="36576" anchor="t">
            <a:spAutoFit/>
          </a:bodyPr>
          <a:lstStyle/>
          <a:p>
            <a:pPr algn="l">
              <a:spcAft>
                <a:spcPts val="500"/>
              </a:spcAft>
              <a:defRPr sz="1400" b="0">
                <a:solidFill>
                  <a:srgbClr val="B0BEDC"/>
                </a:solidFill>
                <a:latin typeface="Aptos"/>
              </a:defRPr>
            </a:pPr>
            <a:r>
              <a:t>1. Open the event listing / organizer view</a:t>
            </a:r>
          </a:p>
          <a:p>
            <a:pPr algn="l">
              <a:spcAft>
                <a:spcPts val="500"/>
              </a:spcAft>
              <a:defRPr sz="1400" b="0">
                <a:solidFill>
                  <a:srgbClr val="B0BEDC"/>
                </a:solidFill>
                <a:latin typeface="Aptos"/>
              </a:defRPr>
            </a:pPr>
            <a:r>
              <a:t>2. Select an event and inspect registrations</a:t>
            </a:r>
          </a:p>
          <a:p>
            <a:pPr algn="l">
              <a:spcAft>
                <a:spcPts val="500"/>
              </a:spcAft>
              <a:defRPr sz="1400" b="0">
                <a:solidFill>
                  <a:srgbClr val="B0BEDC"/>
                </a:solidFill>
                <a:latin typeface="Aptos"/>
              </a:defRPr>
            </a:pPr>
            <a:r>
              <a:t>3. Generate or refresh an attendance forecast (if live)</a:t>
            </a:r>
          </a:p>
          <a:p>
            <a:pPr algn="l">
              <a:spcAft>
                <a:spcPts val="500"/>
              </a:spcAft>
              <a:defRPr sz="1400" b="0">
                <a:solidFill>
                  <a:srgbClr val="B0BEDC"/>
                </a:solidFill>
                <a:latin typeface="Aptos"/>
              </a:defRPr>
            </a:pPr>
            <a:r>
              <a:t>4. Review demand and no-show views (if implemented)</a:t>
            </a:r>
          </a:p>
          <a:p>
            <a:pPr algn="l">
              <a:spcAft>
                <a:spcPts val="500"/>
              </a:spcAft>
              <a:defRPr sz="1400" b="0">
                <a:solidFill>
                  <a:srgbClr val="B0BEDC"/>
                </a:solidFill>
                <a:latin typeface="Aptos"/>
              </a:defRPr>
            </a:pPr>
            <a:r>
              <a:t>5. Complete a check-in workflow (if available)</a:t>
            </a:r>
          </a:p>
          <a:p>
            <a:pPr algn="l">
              <a:spcAft>
                <a:spcPts val="500"/>
              </a:spcAft>
              <a:defRPr sz="1400" b="0">
                <a:solidFill>
                  <a:srgbClr val="B0BEDC"/>
                </a:solidFill>
                <a:latin typeface="Aptos"/>
              </a:defRPr>
            </a:pPr>
            <a:r>
              <a:t>6. Compare forecast with verified check-ins after the event</a:t>
            </a:r>
          </a:p>
        </p:txBody>
      </p:sp>
      <p:sp>
        <p:nvSpPr>
          <p:cNvPr id="12" name="TextBox 11"/>
          <p:cNvSpPr txBox="1"/>
          <p:nvPr/>
        </p:nvSpPr>
        <p:spPr>
          <a:xfrm>
            <a:off x="6172200" y="1353312"/>
            <a:ext cx="5166360" cy="320040"/>
          </a:xfrm>
          <a:prstGeom prst="rect">
            <a:avLst/>
          </a:prstGeom>
          <a:noFill/>
        </p:spPr>
        <p:txBody>
          <a:bodyPr wrap="square" lIns="36576" tIns="36576" rIns="36576" bIns="36576" anchor="t">
            <a:spAutoFit/>
          </a:bodyPr>
          <a:lstStyle/>
          <a:p>
            <a:pPr algn="l">
              <a:spcAft>
                <a:spcPts val="500"/>
              </a:spcAft>
              <a:defRPr sz="1300" b="1">
                <a:solidFill>
                  <a:srgbClr val="36D3EB"/>
                </a:solidFill>
                <a:latin typeface="Aptos"/>
              </a:defRPr>
            </a:pPr>
            <a:r>
              <a:t>EVALUATION PLAN</a:t>
            </a:r>
          </a:p>
        </p:txBody>
      </p:sp>
      <p:sp>
        <p:nvSpPr>
          <p:cNvPr id="13" name="Rounded Rectangle 12"/>
          <p:cNvSpPr/>
          <p:nvPr/>
        </p:nvSpPr>
        <p:spPr>
          <a:xfrm>
            <a:off x="6172200" y="1874519"/>
            <a:ext cx="2450592" cy="987552"/>
          </a:xfrm>
          <a:prstGeom prst="roundRect">
            <a:avLst>
              <a:gd name="adj" fmla="val 12000"/>
            </a:avLst>
          </a:prstGeom>
          <a:solidFill>
            <a:srgbClr val="1C284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91072" y="1993391"/>
            <a:ext cx="2212848" cy="256032"/>
          </a:xfrm>
          <a:prstGeom prst="rect">
            <a:avLst/>
          </a:prstGeom>
          <a:noFill/>
        </p:spPr>
        <p:txBody>
          <a:bodyPr wrap="square" lIns="36576" tIns="36576" rIns="36576" bIns="36576" anchor="t">
            <a:spAutoFit/>
          </a:bodyPr>
          <a:lstStyle/>
          <a:p>
            <a:pPr algn="l">
              <a:spcAft>
                <a:spcPts val="500"/>
              </a:spcAft>
              <a:defRPr sz="1200" b="1">
                <a:solidFill>
                  <a:srgbClr val="F8FAFF"/>
                </a:solidFill>
                <a:latin typeface="Aptos"/>
              </a:defRPr>
            </a:pPr>
            <a:r>
              <a:t>Attendance regression</a:t>
            </a:r>
          </a:p>
        </p:txBody>
      </p:sp>
      <p:sp>
        <p:nvSpPr>
          <p:cNvPr id="15" name="TextBox 14"/>
          <p:cNvSpPr txBox="1"/>
          <p:nvPr/>
        </p:nvSpPr>
        <p:spPr>
          <a:xfrm>
            <a:off x="6291072" y="2331720"/>
            <a:ext cx="2212848" cy="411480"/>
          </a:xfrm>
          <a:prstGeom prst="rect">
            <a:avLst/>
          </a:prstGeom>
          <a:noFill/>
        </p:spPr>
        <p:txBody>
          <a:bodyPr wrap="square" lIns="36576" tIns="36576" rIns="36576" bIns="36576" anchor="t">
            <a:spAutoFit/>
          </a:bodyPr>
          <a:lstStyle/>
          <a:p>
            <a:pPr algn="l">
              <a:spcAft>
                <a:spcPts val="500"/>
              </a:spcAft>
              <a:defRPr sz="1000" b="0">
                <a:solidFill>
                  <a:srgbClr val="B0BEDC"/>
                </a:solidFill>
                <a:latin typeface="Aptos"/>
              </a:defRPr>
            </a:pPr>
            <a:r>
              <a:t>MAE • RMSE • R² (optional)</a:t>
            </a:r>
          </a:p>
        </p:txBody>
      </p:sp>
      <p:sp>
        <p:nvSpPr>
          <p:cNvPr id="16" name="Rounded Rectangle 15"/>
          <p:cNvSpPr/>
          <p:nvPr/>
        </p:nvSpPr>
        <p:spPr>
          <a:xfrm>
            <a:off x="8823960" y="1874519"/>
            <a:ext cx="2450592" cy="987552"/>
          </a:xfrm>
          <a:prstGeom prst="roundRect">
            <a:avLst>
              <a:gd name="adj" fmla="val 12000"/>
            </a:avLst>
          </a:prstGeom>
          <a:solidFill>
            <a:srgbClr val="1C284C"/>
          </a:solidFill>
          <a:ln w="15240">
            <a:solidFill>
              <a:srgbClr val="915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42832" y="1993391"/>
            <a:ext cx="2212848" cy="256032"/>
          </a:xfrm>
          <a:prstGeom prst="rect">
            <a:avLst/>
          </a:prstGeom>
          <a:noFill/>
        </p:spPr>
        <p:txBody>
          <a:bodyPr wrap="square" lIns="36576" tIns="36576" rIns="36576" bIns="36576" anchor="t">
            <a:spAutoFit/>
          </a:bodyPr>
          <a:lstStyle/>
          <a:p>
            <a:pPr algn="l">
              <a:spcAft>
                <a:spcPts val="500"/>
              </a:spcAft>
              <a:defRPr sz="1200" b="1">
                <a:solidFill>
                  <a:srgbClr val="F8FAFF"/>
                </a:solidFill>
                <a:latin typeface="Aptos"/>
              </a:defRPr>
            </a:pPr>
            <a:r>
              <a:t>No-show classifier</a:t>
            </a:r>
          </a:p>
        </p:txBody>
      </p:sp>
      <p:sp>
        <p:nvSpPr>
          <p:cNvPr id="18" name="TextBox 17"/>
          <p:cNvSpPr txBox="1"/>
          <p:nvPr/>
        </p:nvSpPr>
        <p:spPr>
          <a:xfrm>
            <a:off x="8942832" y="2331720"/>
            <a:ext cx="2212848" cy="411480"/>
          </a:xfrm>
          <a:prstGeom prst="rect">
            <a:avLst/>
          </a:prstGeom>
          <a:noFill/>
        </p:spPr>
        <p:txBody>
          <a:bodyPr wrap="square" lIns="36576" tIns="36576" rIns="36576" bIns="36576" anchor="t">
            <a:spAutoFit/>
          </a:bodyPr>
          <a:lstStyle/>
          <a:p>
            <a:pPr algn="l">
              <a:spcAft>
                <a:spcPts val="500"/>
              </a:spcAft>
              <a:defRPr sz="1000" b="0">
                <a:solidFill>
                  <a:srgbClr val="B0BEDC"/>
                </a:solidFill>
                <a:latin typeface="Aptos"/>
              </a:defRPr>
            </a:pPr>
            <a:r>
              <a:t>Precision • Recall • F1</a:t>
            </a:r>
          </a:p>
        </p:txBody>
      </p:sp>
      <p:sp>
        <p:nvSpPr>
          <p:cNvPr id="19" name="Rounded Rectangle 18"/>
          <p:cNvSpPr/>
          <p:nvPr/>
        </p:nvSpPr>
        <p:spPr>
          <a:xfrm>
            <a:off x="6172200" y="3108960"/>
            <a:ext cx="2450592" cy="987552"/>
          </a:xfrm>
          <a:prstGeom prst="roundRect">
            <a:avLst>
              <a:gd name="adj" fmla="val 12000"/>
            </a:avLst>
          </a:prstGeom>
          <a:solidFill>
            <a:srgbClr val="1C284C"/>
          </a:solidFill>
          <a:ln w="15240">
            <a:solidFill>
              <a:srgbClr val="45D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91072" y="3227832"/>
            <a:ext cx="2212848" cy="256032"/>
          </a:xfrm>
          <a:prstGeom prst="rect">
            <a:avLst/>
          </a:prstGeom>
          <a:noFill/>
        </p:spPr>
        <p:txBody>
          <a:bodyPr wrap="square" lIns="36576" tIns="36576" rIns="36576" bIns="36576" anchor="t">
            <a:spAutoFit/>
          </a:bodyPr>
          <a:lstStyle/>
          <a:p>
            <a:pPr algn="l">
              <a:spcAft>
                <a:spcPts val="500"/>
              </a:spcAft>
              <a:defRPr sz="1200" b="1">
                <a:solidFill>
                  <a:srgbClr val="F8FAFF"/>
                </a:solidFill>
                <a:latin typeface="Aptos"/>
              </a:defRPr>
            </a:pPr>
            <a:r>
              <a:t>Recommendations</a:t>
            </a:r>
          </a:p>
        </p:txBody>
      </p:sp>
      <p:sp>
        <p:nvSpPr>
          <p:cNvPr id="21" name="TextBox 20"/>
          <p:cNvSpPr txBox="1"/>
          <p:nvPr/>
        </p:nvSpPr>
        <p:spPr>
          <a:xfrm>
            <a:off x="6291072" y="3566160"/>
            <a:ext cx="2212848" cy="411480"/>
          </a:xfrm>
          <a:prstGeom prst="rect">
            <a:avLst/>
          </a:prstGeom>
          <a:noFill/>
        </p:spPr>
        <p:txBody>
          <a:bodyPr wrap="square" lIns="36576" tIns="36576" rIns="36576" bIns="36576" anchor="t">
            <a:spAutoFit/>
          </a:bodyPr>
          <a:lstStyle/>
          <a:p>
            <a:pPr algn="l">
              <a:spcAft>
                <a:spcPts val="500"/>
              </a:spcAft>
              <a:defRPr sz="1000" b="0">
                <a:solidFill>
                  <a:srgbClr val="B0BEDC"/>
                </a:solidFill>
                <a:latin typeface="Aptos"/>
              </a:defRPr>
            </a:pPr>
            <a:r>
              <a:t>Precision@K • Recall@K</a:t>
            </a:r>
          </a:p>
        </p:txBody>
      </p:sp>
      <p:sp>
        <p:nvSpPr>
          <p:cNvPr id="22" name="Rounded Rectangle 21"/>
          <p:cNvSpPr/>
          <p:nvPr/>
        </p:nvSpPr>
        <p:spPr>
          <a:xfrm>
            <a:off x="8823960" y="3108960"/>
            <a:ext cx="2450592" cy="987552"/>
          </a:xfrm>
          <a:prstGeom prst="roundRect">
            <a:avLst>
              <a:gd name="adj" fmla="val 12000"/>
            </a:avLst>
          </a:prstGeom>
          <a:solidFill>
            <a:srgbClr val="1C284C"/>
          </a:solidFill>
          <a:ln w="15240">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42832" y="3227832"/>
            <a:ext cx="2212848" cy="256032"/>
          </a:xfrm>
          <a:prstGeom prst="rect">
            <a:avLst/>
          </a:prstGeom>
          <a:noFill/>
        </p:spPr>
        <p:txBody>
          <a:bodyPr wrap="square" lIns="36576" tIns="36576" rIns="36576" bIns="36576" anchor="t">
            <a:spAutoFit/>
          </a:bodyPr>
          <a:lstStyle/>
          <a:p>
            <a:pPr algn="l">
              <a:spcAft>
                <a:spcPts val="500"/>
              </a:spcAft>
              <a:defRPr sz="1200" b="1">
                <a:solidFill>
                  <a:srgbClr val="F8FAFF"/>
                </a:solidFill>
                <a:latin typeface="Aptos"/>
              </a:defRPr>
            </a:pPr>
            <a:r>
              <a:t>Demand forecast</a:t>
            </a:r>
          </a:p>
        </p:txBody>
      </p:sp>
      <p:sp>
        <p:nvSpPr>
          <p:cNvPr id="24" name="TextBox 23"/>
          <p:cNvSpPr txBox="1"/>
          <p:nvPr/>
        </p:nvSpPr>
        <p:spPr>
          <a:xfrm>
            <a:off x="8942832" y="3566160"/>
            <a:ext cx="2212848" cy="411480"/>
          </a:xfrm>
          <a:prstGeom prst="rect">
            <a:avLst/>
          </a:prstGeom>
          <a:noFill/>
        </p:spPr>
        <p:txBody>
          <a:bodyPr wrap="square" lIns="36576" tIns="36576" rIns="36576" bIns="36576" anchor="t">
            <a:spAutoFit/>
          </a:bodyPr>
          <a:lstStyle/>
          <a:p>
            <a:pPr algn="l">
              <a:spcAft>
                <a:spcPts val="500"/>
              </a:spcAft>
              <a:defRPr sz="1000" b="0">
                <a:solidFill>
                  <a:srgbClr val="B0BEDC"/>
                </a:solidFill>
                <a:latin typeface="Aptos"/>
              </a:defRPr>
            </a:pPr>
            <a:r>
              <a:t>MAE • suitable percentage error</a:t>
            </a:r>
          </a:p>
        </p:txBody>
      </p:sp>
      <p:sp>
        <p:nvSpPr>
          <p:cNvPr id="25" name="Rounded Rectangle 24"/>
          <p:cNvSpPr/>
          <p:nvPr/>
        </p:nvSpPr>
        <p:spPr>
          <a:xfrm>
            <a:off x="6172200" y="4526280"/>
            <a:ext cx="5074920" cy="1024128"/>
          </a:xfrm>
          <a:prstGeom prst="roundRect">
            <a:avLst>
              <a:gd name="adj" fmla="val 12000"/>
            </a:avLst>
          </a:prstGeom>
          <a:solidFill>
            <a:srgbClr val="23325C"/>
          </a:solidFill>
          <a:ln w="15240">
            <a:solidFill>
              <a:srgbClr val="FFB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4681728"/>
            <a:ext cx="4663440" cy="594360"/>
          </a:xfrm>
          <a:prstGeom prst="rect">
            <a:avLst/>
          </a:prstGeom>
          <a:noFill/>
        </p:spPr>
        <p:txBody>
          <a:bodyPr wrap="square" lIns="36576" tIns="36576" rIns="36576" bIns="36576" anchor="t">
            <a:spAutoFit/>
          </a:bodyPr>
          <a:lstStyle/>
          <a:p>
            <a:pPr algn="l">
              <a:spcAft>
                <a:spcPts val="500"/>
              </a:spcAft>
              <a:defRPr sz="1200" b="1">
                <a:solidFill>
                  <a:srgbClr val="FFBE50"/>
                </a:solidFill>
                <a:latin typeface="Aptos"/>
              </a:defRPr>
            </a:pPr>
            <a:r>
              <a:t>CURRENT EVIDENCE STATUS</a:t>
            </a:r>
          </a:p>
          <a:p>
            <a:pPr algn="l">
              <a:spcAft>
                <a:spcPts val="500"/>
              </a:spcAft>
              <a:defRPr sz="1200" b="1">
                <a:solidFill>
                  <a:srgbClr val="FFBE50"/>
                </a:solidFill>
                <a:latin typeface="Aptos"/>
              </a:defRPr>
            </a:pPr>
            <a:r>
              <a:t>No verified training logs, dataset counts, or evaluation scores supplied. Treat results as pending.</a:t>
            </a:r>
          </a:p>
        </p:txBody>
      </p:sp>
      <p:sp>
        <p:nvSpPr>
          <p:cNvPr id="27" name="TextBox 26"/>
          <p:cNvSpPr txBox="1"/>
          <p:nvPr/>
        </p:nvSpPr>
        <p:spPr>
          <a:xfrm>
            <a:off x="685800" y="5989320"/>
            <a:ext cx="10789920" cy="274320"/>
          </a:xfrm>
          <a:prstGeom prst="rect">
            <a:avLst/>
          </a:prstGeom>
          <a:noFill/>
        </p:spPr>
        <p:txBody>
          <a:bodyPr wrap="square" lIns="36576" tIns="36576" rIns="36576" bIns="36576" anchor="t">
            <a:spAutoFit/>
          </a:bodyPr>
          <a:lstStyle/>
          <a:p>
            <a:pPr algn="l">
              <a:spcAft>
                <a:spcPts val="500"/>
              </a:spcAft>
              <a:defRPr sz="1000" b="1">
                <a:solidFill>
                  <a:srgbClr val="FF6B81"/>
                </a:solidFill>
                <a:latin typeface="Aptos"/>
              </a:defRPr>
            </a:pPr>
            <a:r>
              <a:t>Never present a UI number or synthetic example as evidence of a trained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42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640080" cy="310896"/>
          </a:xfrm>
          <a:prstGeom prst="rect">
            <a:avLst/>
          </a:prstGeom>
          <a:noFill/>
        </p:spPr>
        <p:txBody>
          <a:bodyPr wrap="square" lIns="36576" tIns="36576" rIns="36576" bIns="36576" anchor="t">
            <a:spAutoFit/>
          </a:bodyPr>
          <a:lstStyle/>
          <a:p>
            <a:pPr algn="l">
              <a:spcAft>
                <a:spcPts val="500"/>
              </a:spcAft>
              <a:defRPr sz="1200" b="1">
                <a:solidFill>
                  <a:srgbClr val="36D3EB"/>
                </a:solidFill>
                <a:latin typeface="Aptos"/>
              </a:defRPr>
            </a:pPr>
            <a:r>
              <a:t>10</a:t>
            </a:r>
          </a:p>
        </p:txBody>
      </p:sp>
      <p:sp>
        <p:nvSpPr>
          <p:cNvPr id="4" name="TextBox 3"/>
          <p:cNvSpPr txBox="1"/>
          <p:nvPr/>
        </p:nvSpPr>
        <p:spPr>
          <a:xfrm>
            <a:off x="1024128" y="228600"/>
            <a:ext cx="10698480" cy="530352"/>
          </a:xfrm>
          <a:prstGeom prst="rect">
            <a:avLst/>
          </a:prstGeom>
          <a:noFill/>
        </p:spPr>
        <p:txBody>
          <a:bodyPr wrap="square" lIns="36576" tIns="36576" rIns="36576" bIns="36576" anchor="t">
            <a:spAutoFit/>
          </a:bodyPr>
          <a:lstStyle/>
          <a:p>
            <a:pPr algn="l">
              <a:spcAft>
                <a:spcPts val="500"/>
              </a:spcAft>
              <a:defRPr sz="2700" b="1">
                <a:solidFill>
                  <a:srgbClr val="F8FAFF"/>
                </a:solidFill>
                <a:latin typeface="Aptos"/>
              </a:defRPr>
            </a:pPr>
            <a:r>
              <a:t>Conclusion, Limitations &amp; Future Scope</a:t>
            </a:r>
          </a:p>
        </p:txBody>
      </p:sp>
      <p:sp>
        <p:nvSpPr>
          <p:cNvPr id="5" name="TextBox 4"/>
          <p:cNvSpPr txBox="1"/>
          <p:nvPr/>
        </p:nvSpPr>
        <p:spPr>
          <a:xfrm>
            <a:off x="1042415" y="777240"/>
            <a:ext cx="10515600" cy="292608"/>
          </a:xfrm>
          <a:prstGeom prst="rect">
            <a:avLst/>
          </a:prstGeom>
          <a:noFill/>
        </p:spPr>
        <p:txBody>
          <a:bodyPr wrap="square" lIns="36576" tIns="36576" rIns="36576" bIns="36576" anchor="t">
            <a:spAutoFit/>
          </a:bodyPr>
          <a:lstStyle/>
          <a:p>
            <a:pPr algn="l">
              <a:spcAft>
                <a:spcPts val="500"/>
              </a:spcAft>
              <a:defRPr sz="1100" b="0">
                <a:solidFill>
                  <a:srgbClr val="B0BEDC"/>
                </a:solidFill>
                <a:latin typeface="Aptos"/>
              </a:defRPr>
            </a:pPr>
            <a:r>
              <a:t>From event operations to evidence-based planning</a:t>
            </a:r>
          </a:p>
        </p:txBody>
      </p:sp>
      <p:sp>
        <p:nvSpPr>
          <p:cNvPr id="6" name="TextBox 5"/>
          <p:cNvSpPr txBox="1"/>
          <p:nvPr/>
        </p:nvSpPr>
        <p:spPr>
          <a:xfrm>
            <a:off x="502920" y="6519672"/>
            <a:ext cx="8686800" cy="164592"/>
          </a:xfrm>
          <a:prstGeom prst="rect">
            <a:avLst/>
          </a:prstGeom>
          <a:noFill/>
        </p:spPr>
        <p:txBody>
          <a:bodyPr wrap="square" lIns="36576" tIns="36576" rIns="36576" bIns="36576" anchor="t">
            <a:spAutoFit/>
          </a:bodyPr>
          <a:lstStyle/>
          <a:p>
            <a:pPr algn="l">
              <a:spcAft>
                <a:spcPts val="500"/>
              </a:spcAft>
              <a:defRPr sz="800" b="0">
                <a:solidFill>
                  <a:srgbClr val="B0BEDC"/>
                </a:solidFill>
                <a:latin typeface="Aptos"/>
              </a:defRPr>
            </a:pPr>
            <a:r>
              <a:t>SMARTEVENT AI  •  PROJECT REVIEW  •  IMPLEMENTATION STATUS IS LABELLED</a:t>
            </a:r>
          </a:p>
        </p:txBody>
      </p:sp>
      <p:sp>
        <p:nvSpPr>
          <p:cNvPr id="7" name="TextBox 6"/>
          <p:cNvSpPr txBox="1"/>
          <p:nvPr/>
        </p:nvSpPr>
        <p:spPr>
          <a:xfrm>
            <a:off x="11109960" y="6473952"/>
            <a:ext cx="548640" cy="219456"/>
          </a:xfrm>
          <a:prstGeom prst="rect">
            <a:avLst/>
          </a:prstGeom>
          <a:noFill/>
        </p:spPr>
        <p:txBody>
          <a:bodyPr wrap="square" lIns="36576" tIns="36576" rIns="36576" bIns="36576" anchor="t">
            <a:spAutoFit/>
          </a:bodyPr>
          <a:lstStyle/>
          <a:p>
            <a:pPr algn="r">
              <a:spcAft>
                <a:spcPts val="500"/>
              </a:spcAft>
              <a:defRPr sz="900" b="0">
                <a:solidFill>
                  <a:srgbClr val="B0BEDC"/>
                </a:solidFill>
                <a:latin typeface="Aptos"/>
              </a:defRPr>
            </a:pPr>
            <a:r>
              <a:t>10/10</a:t>
            </a:r>
          </a:p>
        </p:txBody>
      </p:sp>
      <p:sp>
        <p:nvSpPr>
          <p:cNvPr id="8" name="Rounded Rectangle 7"/>
          <p:cNvSpPr/>
          <p:nvPr/>
        </p:nvSpPr>
        <p:spPr>
          <a:xfrm>
            <a:off x="594360" y="1325880"/>
            <a:ext cx="3520440" cy="361188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325880"/>
            <a:ext cx="64008" cy="3611880"/>
          </a:xfrm>
          <a:prstGeom prst="roundRect">
            <a:avLst>
              <a:gd name="adj" fmla="val 12000"/>
            </a:avLst>
          </a:prstGeom>
          <a:solidFill>
            <a:srgbClr val="36D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472184"/>
            <a:ext cx="313639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Conclusion</a:t>
            </a:r>
          </a:p>
        </p:txBody>
      </p:sp>
      <p:sp>
        <p:nvSpPr>
          <p:cNvPr id="11" name="TextBox 10"/>
          <p:cNvSpPr txBox="1"/>
          <p:nvPr/>
        </p:nvSpPr>
        <p:spPr>
          <a:xfrm>
            <a:off x="795528" y="1847088"/>
            <a:ext cx="3136392" cy="2990088"/>
          </a:xfrm>
          <a:prstGeom prst="rect">
            <a:avLst/>
          </a:prstGeom>
          <a:noFill/>
        </p:spPr>
        <p:txBody>
          <a:bodyPr wrap="square" lIns="36576" tIns="36576" rIns="36576" bIns="36576" anchor="t">
            <a:spAutoFit/>
          </a:bodyPr>
          <a:lstStyle/>
          <a:p>
            <a:pPr algn="l">
              <a:spcAft>
                <a:spcPts val="500"/>
              </a:spcAft>
              <a:defRPr sz="1500" b="0">
                <a:solidFill>
                  <a:srgbClr val="B0BEDC"/>
                </a:solidFill>
                <a:latin typeface="Aptos"/>
              </a:defRPr>
            </a:pPr>
            <a:r>
              <a:t>SmartEvent AI aims to unite event management with ML-assisted planning and event discovery.</a:t>
            </a:r>
          </a:p>
          <a:p>
            <a:pPr algn="l">
              <a:spcAft>
                <a:spcPts val="500"/>
              </a:spcAft>
              <a:defRPr sz="1500" b="0">
                <a:solidFill>
                  <a:srgbClr val="B0BEDC"/>
                </a:solidFill>
                <a:latin typeface="Aptos"/>
              </a:defRPr>
            </a:pPr>
            <a:endParaRPr/>
          </a:p>
          <a:p>
            <a:pPr algn="l">
              <a:spcAft>
                <a:spcPts val="500"/>
              </a:spcAft>
              <a:defRPr sz="1500" b="0">
                <a:solidFill>
                  <a:srgbClr val="B0BEDC"/>
                </a:solidFill>
                <a:latin typeface="Aptos"/>
              </a:defRPr>
            </a:pPr>
            <a:r>
              <a:t>The value depends on trustworthy data and reliable service integration.</a:t>
            </a:r>
          </a:p>
        </p:txBody>
      </p:sp>
      <p:sp>
        <p:nvSpPr>
          <p:cNvPr id="12" name="Rounded Rectangle 11"/>
          <p:cNvSpPr/>
          <p:nvPr/>
        </p:nvSpPr>
        <p:spPr>
          <a:xfrm>
            <a:off x="4343400" y="1325880"/>
            <a:ext cx="3520440" cy="361188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43400" y="1325880"/>
            <a:ext cx="64008" cy="3611880"/>
          </a:xfrm>
          <a:prstGeom prst="roundRect">
            <a:avLst>
              <a:gd name="adj" fmla="val 12000"/>
            </a:avLst>
          </a:prstGeom>
          <a:solidFill>
            <a:srgbClr val="FF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472184"/>
            <a:ext cx="313639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Limitations</a:t>
            </a:r>
          </a:p>
        </p:txBody>
      </p:sp>
      <p:sp>
        <p:nvSpPr>
          <p:cNvPr id="15" name="TextBox 14"/>
          <p:cNvSpPr txBox="1"/>
          <p:nvPr/>
        </p:nvSpPr>
        <p:spPr>
          <a:xfrm>
            <a:off x="4544568" y="1847088"/>
            <a:ext cx="3136392" cy="2990088"/>
          </a:xfrm>
          <a:prstGeom prst="rect">
            <a:avLst/>
          </a:prstGeom>
          <a:noFill/>
        </p:spPr>
        <p:txBody>
          <a:bodyPr wrap="square" lIns="36576" tIns="36576" rIns="36576" bIns="36576" anchor="t">
            <a:spAutoFit/>
          </a:bodyPr>
          <a:lstStyle/>
          <a:p>
            <a:pPr algn="l">
              <a:spcAft>
                <a:spcPts val="500"/>
              </a:spcAft>
              <a:defRPr sz="1300" b="0">
                <a:solidFill>
                  <a:srgbClr val="B0BEDC"/>
                </a:solidFill>
                <a:latin typeface="Aptos"/>
              </a:defRPr>
            </a:pPr>
            <a:r>
              <a:t>• Predictions depend on data quality</a:t>
            </a:r>
          </a:p>
          <a:p>
            <a:pPr algn="l">
              <a:spcAft>
                <a:spcPts val="500"/>
              </a:spcAft>
              <a:defRPr sz="1300" b="0">
                <a:solidFill>
                  <a:srgbClr val="B0BEDC"/>
                </a:solidFill>
                <a:latin typeface="Aptos"/>
              </a:defRPr>
            </a:pPr>
            <a:r>
              <a:t>• New events may have little history</a:t>
            </a:r>
          </a:p>
          <a:p>
            <a:pPr algn="l">
              <a:spcAft>
                <a:spcPts val="500"/>
              </a:spcAft>
              <a:defRPr sz="1300" b="0">
                <a:solidFill>
                  <a:srgbClr val="B0BEDC"/>
                </a:solidFill>
                <a:latin typeface="Aptos"/>
              </a:defRPr>
            </a:pPr>
            <a:r>
              <a:t>• Behavior and trends can shift</a:t>
            </a:r>
          </a:p>
          <a:p>
            <a:pPr algn="l">
              <a:spcAft>
                <a:spcPts val="500"/>
              </a:spcAft>
              <a:defRPr sz="1300" b="0">
                <a:solidFill>
                  <a:srgbClr val="B0BEDC"/>
                </a:solidFill>
                <a:latin typeface="Aptos"/>
              </a:defRPr>
            </a:pPr>
            <a:r>
              <a:t>• Models need unseen-data evaluation</a:t>
            </a:r>
          </a:p>
          <a:p>
            <a:pPr algn="l">
              <a:spcAft>
                <a:spcPts val="500"/>
              </a:spcAft>
              <a:defRPr sz="1300" b="0">
                <a:solidFill>
                  <a:srgbClr val="B0BEDC"/>
                </a:solidFill>
                <a:latin typeface="Aptos"/>
              </a:defRPr>
            </a:pPr>
            <a:r>
              <a:t>• Live ML depends on service integration</a:t>
            </a:r>
          </a:p>
        </p:txBody>
      </p:sp>
      <p:sp>
        <p:nvSpPr>
          <p:cNvPr id="16" name="Rounded Rectangle 15"/>
          <p:cNvSpPr/>
          <p:nvPr/>
        </p:nvSpPr>
        <p:spPr>
          <a:xfrm>
            <a:off x="8092440" y="1325880"/>
            <a:ext cx="3520440" cy="3611880"/>
          </a:xfrm>
          <a:prstGeom prst="roundRect">
            <a:avLst>
              <a:gd name="adj" fmla="val 12000"/>
            </a:avLst>
          </a:prstGeom>
          <a:solidFill>
            <a:srgbClr val="1C284C"/>
          </a:solidFill>
          <a:ln w="15240">
            <a:solidFill>
              <a:srgbClr val="304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92440" y="1325880"/>
            <a:ext cx="64008" cy="3611880"/>
          </a:xfrm>
          <a:prstGeom prst="roundRect">
            <a:avLst>
              <a:gd name="adj" fmla="val 12000"/>
            </a:avLst>
          </a:prstGeom>
          <a:solidFill>
            <a:srgbClr val="91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8" y="1472184"/>
            <a:ext cx="3136392" cy="292608"/>
          </a:xfrm>
          <a:prstGeom prst="rect">
            <a:avLst/>
          </a:prstGeom>
          <a:noFill/>
        </p:spPr>
        <p:txBody>
          <a:bodyPr wrap="square" lIns="36576" tIns="36576" rIns="36576" bIns="36576" anchor="t">
            <a:spAutoFit/>
          </a:bodyPr>
          <a:lstStyle/>
          <a:p>
            <a:pPr algn="l">
              <a:spcAft>
                <a:spcPts val="500"/>
              </a:spcAft>
              <a:defRPr sz="1500" b="1">
                <a:solidFill>
                  <a:srgbClr val="F8FAFF"/>
                </a:solidFill>
                <a:latin typeface="Aptos"/>
              </a:defRPr>
            </a:pPr>
            <a:r>
              <a:t>Future scope</a:t>
            </a:r>
          </a:p>
        </p:txBody>
      </p:sp>
      <p:sp>
        <p:nvSpPr>
          <p:cNvPr id="19" name="TextBox 18"/>
          <p:cNvSpPr txBox="1"/>
          <p:nvPr/>
        </p:nvSpPr>
        <p:spPr>
          <a:xfrm>
            <a:off x="8293608" y="1847088"/>
            <a:ext cx="3136392" cy="2990088"/>
          </a:xfrm>
          <a:prstGeom prst="rect">
            <a:avLst/>
          </a:prstGeom>
          <a:noFill/>
        </p:spPr>
        <p:txBody>
          <a:bodyPr wrap="square" lIns="36576" tIns="36576" rIns="36576" bIns="36576" anchor="t">
            <a:spAutoFit/>
          </a:bodyPr>
          <a:lstStyle/>
          <a:p>
            <a:pPr algn="l">
              <a:spcAft>
                <a:spcPts val="500"/>
              </a:spcAft>
              <a:defRPr sz="1300" b="0">
                <a:solidFill>
                  <a:srgbClr val="B0BEDC"/>
                </a:solidFill>
                <a:latin typeface="Aptos"/>
              </a:defRPr>
            </a:pPr>
            <a:r>
              <a:t>• Collect verified event outcomes</a:t>
            </a:r>
          </a:p>
          <a:p>
            <a:pPr algn="l">
              <a:spcAft>
                <a:spcPts val="500"/>
              </a:spcAft>
              <a:defRPr sz="1300" b="0">
                <a:solidFill>
                  <a:srgbClr val="B0BEDC"/>
                </a:solidFill>
                <a:latin typeface="Aptos"/>
              </a:defRPr>
            </a:pPr>
            <a:r>
              <a:t>• Improve forecasting and ranking</a:t>
            </a:r>
          </a:p>
          <a:p>
            <a:pPr algn="l">
              <a:spcAft>
                <a:spcPts val="500"/>
              </a:spcAft>
              <a:defRPr sz="1300" b="0">
                <a:solidFill>
                  <a:srgbClr val="B0BEDC"/>
                </a:solidFill>
                <a:latin typeface="Aptos"/>
              </a:defRPr>
            </a:pPr>
            <a:r>
              <a:t>• Add reminder integrations</a:t>
            </a:r>
          </a:p>
          <a:p>
            <a:pPr algn="l">
              <a:spcAft>
                <a:spcPts val="500"/>
              </a:spcAft>
              <a:defRPr sz="1300" b="0">
                <a:solidFill>
                  <a:srgbClr val="B0BEDC"/>
                </a:solidFill>
                <a:latin typeface="Aptos"/>
              </a:defRPr>
            </a:pPr>
            <a:r>
              <a:t>• Monitor drift and retrain</a:t>
            </a:r>
          </a:p>
          <a:p>
            <a:pPr algn="l">
              <a:spcAft>
                <a:spcPts val="500"/>
              </a:spcAft>
              <a:defRPr sz="1300" b="0">
                <a:solidFill>
                  <a:srgbClr val="B0BEDC"/>
                </a:solidFill>
                <a:latin typeface="Aptos"/>
              </a:defRPr>
            </a:pPr>
            <a:r>
              <a:t>• Deploy backend, database, and ML reliably</a:t>
            </a:r>
          </a:p>
        </p:txBody>
      </p:sp>
      <p:sp>
        <p:nvSpPr>
          <p:cNvPr id="20" name="Rounded Rectangle 19"/>
          <p:cNvSpPr/>
          <p:nvPr/>
        </p:nvSpPr>
        <p:spPr>
          <a:xfrm>
            <a:off x="685800" y="5303520"/>
            <a:ext cx="10835640" cy="685800"/>
          </a:xfrm>
          <a:prstGeom prst="roundRect">
            <a:avLst>
              <a:gd name="adj" fmla="val 12000"/>
            </a:avLst>
          </a:prstGeom>
          <a:solidFill>
            <a:srgbClr val="23325C"/>
          </a:solidFill>
          <a:ln w="1524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468112"/>
            <a:ext cx="10332720" cy="347472"/>
          </a:xfrm>
          <a:prstGeom prst="rect">
            <a:avLst/>
          </a:prstGeom>
          <a:noFill/>
        </p:spPr>
        <p:txBody>
          <a:bodyPr wrap="square" lIns="36576" tIns="36576" rIns="36576" bIns="36576" anchor="t">
            <a:spAutoFit/>
          </a:bodyPr>
          <a:lstStyle/>
          <a:p>
            <a:pPr algn="ctr">
              <a:spcAft>
                <a:spcPts val="500"/>
              </a:spcAft>
              <a:defRPr sz="1500" b="1">
                <a:solidFill>
                  <a:srgbClr val="F8FAFF"/>
                </a:solidFill>
                <a:latin typeface="Aptos"/>
              </a:defRPr>
            </a:pPr>
            <a:r>
              <a:t>Smart event planning is not just prediction — it is a feedback loop between forecasts and verified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1754</Words>
  <Application>Microsoft Office PowerPoint</Application>
  <PresentationFormat>Widescreen</PresentationFormat>
  <Paragraphs>235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Subhash Teja</cp:lastModifiedBy>
  <cp:revision>3</cp:revision>
  <dcterms:created xsi:type="dcterms:W3CDTF">2013-01-27T09:14:16Z</dcterms:created>
  <dcterms:modified xsi:type="dcterms:W3CDTF">2026-10-10T07:38:57Z</dcterms:modified>
  <cp:category/>
</cp:coreProperties>
</file>